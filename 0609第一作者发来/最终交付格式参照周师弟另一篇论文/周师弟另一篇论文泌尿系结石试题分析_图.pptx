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13E96"/>
                </a:solidFill>
                <a:latin typeface="PingFang SC"/>
                <a:ea typeface="PingFang SC"/>
                <a:cs typeface="PingFang SC"/>
              </a:rPr>
              <a:t>泌尿系结石护理试题</a:t>
            </a:r>
          </a:p>
          <a:p>
            <a:pPr algn="ctr"/>
            <a:r>
              <a:rPr sz="2200" b="0">
                <a:solidFill>
                  <a:srgbClr val="4F4F4F"/>
                </a:solidFill>
                <a:latin typeface="PingFang SC"/>
                <a:ea typeface="PingFang SC"/>
                <a:cs typeface="PingFang SC"/>
              </a:rPr>
              <a:t>AI 多智能体出题（MAS） vs 人工出题　数据分析图集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F4F4F"/>
                </a:solidFill>
                <a:latin typeface="PingFang SC"/>
                <a:ea typeface="PingFang SC"/>
                <a:cs typeface="PingFang SC"/>
              </a:rPr>
              <a:t>盲法专家质量评价 · 学生作答表现 · 认知层级 · 工作流效率　|　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13E96"/>
                </a:solidFill>
                <a:latin typeface="PingFang SC"/>
                <a:ea typeface="PingFang SC"/>
                <a:cs typeface="PingFang SC"/>
              </a:rPr>
              <a:t>系统架构　RAG + 多智能体试卷翻新</a:t>
            </a:r>
          </a:p>
        </p:txBody>
      </p:sp>
      <p:pic>
        <p:nvPicPr>
          <p:cNvPr id="3" name="Picture 2" descr="fig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830" y="1143000"/>
            <a:ext cx="6806035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32120"/>
            <a:ext cx="1091153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F4F4F"/>
                </a:solidFill>
                <a:latin typeface="PingFang SC"/>
                <a:ea typeface="PingFang SC"/>
                <a:cs typeface="PingFang SC"/>
              </a:rPr>
              <a:t>由 Exam.docx 与知识库出发：python-docx 载入原卷 → RAG（ChromaDB，chunk 500/overlap 50）检索 top_k=5 上下文与来源 → Analyst 解析、Generator 生成、Auditor 质控；审核不过（抄袭/幻觉）按 max_retry ≤ 5 重生成 → 输出 JSON/Markdown 翻新卷。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13E96"/>
                </a:solidFill>
                <a:latin typeface="PingFang SC"/>
                <a:ea typeface="PingFang SC"/>
                <a:cs typeface="PingFang SC"/>
              </a:rPr>
              <a:t>图 1　研究设计与 MAS 出题工作流</a:t>
            </a:r>
          </a:p>
        </p:txBody>
      </p:sp>
      <p:pic>
        <p:nvPicPr>
          <p:cNvPr id="3" name="Picture 2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105" y="1143000"/>
            <a:ext cx="5755484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32120"/>
            <a:ext cx="1091153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F4F4F"/>
                </a:solidFill>
                <a:latin typeface="PingFang SC"/>
                <a:ea typeface="PingFang SC"/>
                <a:cs typeface="PingFang SC"/>
              </a:rPr>
              <a:t>统一命题蓝图下，MAS（AI 多智能体：起草→修订→答案核对→事实筛查）与专家人工命制两条线分别产卷；护士闭卷应试后进入评分与统计分析。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13E96"/>
                </a:solidFill>
                <a:latin typeface="PingFang SC"/>
                <a:ea typeface="PingFang SC"/>
                <a:cs typeface="PingFang SC"/>
              </a:rPr>
              <a:t>图 2　专家盲法评价的题目质量</a:t>
            </a:r>
          </a:p>
        </p:txBody>
      </p:sp>
      <p:pic>
        <p:nvPicPr>
          <p:cNvPr id="3" name="Picture 2" descr="fig2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4415"/>
            <a:ext cx="11277295" cy="37376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32120"/>
            <a:ext cx="1091153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F4F4F"/>
                </a:solidFill>
                <a:latin typeface="PingFang SC"/>
                <a:ea typeface="PingFang SC"/>
                <a:cs typeface="PingFang SC"/>
              </a:rPr>
              <a:t>以题目为单元、组间 Welch 检验。A 主终点复合质量差与 −0.30 非劣界值（判非劣）；B 七维度评分（仅简洁性显著）；C 专家一致性 ICC（MAS 偏低系天花板效应）。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13E96"/>
                </a:solidFill>
                <a:latin typeface="PingFang SC"/>
                <a:ea typeface="PingFang SC"/>
                <a:cs typeface="PingFang SC"/>
              </a:rPr>
              <a:t>图 3　按认知层级的表现边界</a:t>
            </a:r>
          </a:p>
        </p:txBody>
      </p:sp>
      <p:pic>
        <p:nvPicPr>
          <p:cNvPr id="3" name="Picture 2" descr="fig3_cogn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566" y="1143000"/>
            <a:ext cx="5382562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32120"/>
            <a:ext cx="1091153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F4F4F"/>
                </a:solidFill>
                <a:latin typeface="PingFang SC"/>
                <a:ea typeface="PingFang SC"/>
                <a:cs typeface="PingFang SC"/>
              </a:rPr>
              <a:t>A 各层级专家质量差（−0.30 界值）；B 各层级学生正确率；C source×认知层级交互；D 客观题 CTT 难度-区分度。多选差距在部分给分下由约 −26 收窄至 −9 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13E96"/>
                </a:solidFill>
                <a:latin typeface="PingFang SC"/>
                <a:ea typeface="PingFang SC"/>
                <a:cs typeface="PingFang SC"/>
              </a:rPr>
              <a:t>图 4　工作流效率：人力时间与 API 成本</a:t>
            </a:r>
          </a:p>
        </p:txBody>
      </p:sp>
      <p:pic>
        <p:nvPicPr>
          <p:cNvPr id="3" name="Picture 2" descr="fig4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537" y="1143000"/>
            <a:ext cx="5640620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32120"/>
            <a:ext cx="1091153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F4F4F"/>
                </a:solidFill>
                <a:latin typeface="PingFang SC"/>
                <a:ea typeface="PingFang SC"/>
                <a:cs typeface="PingFang SC"/>
              </a:rPr>
              <a:t>聚合比较。A 总人力时间：人工 870 min（14.5 h） vs MAS 30 min 终审 + 约 $0.15 API；B 每题人力 34.8 vs 1.2 min（约省 29 倍）；C ±20% 敏感性（最坏仍约 19 倍）；D API 成本明细。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