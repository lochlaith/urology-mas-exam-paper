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7.svg" ContentType="image/svg+xml"/>
  <Override PartName="/ppt/media/image28.svg" ContentType="image/svg+xml"/>
  <Override PartName="/ppt/media/image30.svg" ContentType="image/svg+xml"/>
  <Override PartName="/ppt/media/image35.svg" ContentType="image/svg+xml"/>
  <Override PartName="/ppt/media/image3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handoutMasterIdLst>
    <p:handoutMasterId r:id="rId8"/>
  </p:handoutMasterIdLst>
  <p:sldIdLst>
    <p:sldId id="305" r:id="rId4"/>
    <p:sldId id="306" r:id="rId5"/>
    <p:sldId id="309" r:id="rId6"/>
  </p:sldIdLst>
  <p:sldSz cx="12192635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1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011363" y="1143000"/>
            <a:ext cx="28352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5FD94-2A16-479A-964B-D925B981816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1122363"/>
            <a:ext cx="91449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3602038"/>
            <a:ext cx="91449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1709738"/>
            <a:ext cx="1051663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4589463"/>
            <a:ext cx="1051663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1825625"/>
            <a:ext cx="518211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1825625"/>
            <a:ext cx="518211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65125"/>
            <a:ext cx="10516635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71" y="1681163"/>
            <a:ext cx="515829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71" y="2505075"/>
            <a:ext cx="5158295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808" y="1681163"/>
            <a:ext cx="518369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808" y="2505075"/>
            <a:ext cx="518369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57200"/>
            <a:ext cx="39326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987425"/>
            <a:ext cx="61728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057400"/>
            <a:ext cx="39326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57200"/>
            <a:ext cx="39326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987425"/>
            <a:ext cx="6172808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057400"/>
            <a:ext cx="393262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759" y="365125"/>
            <a:ext cx="2629159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365125"/>
            <a:ext cx="7735062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94" y="1122363"/>
            <a:ext cx="10364263" cy="2387600"/>
          </a:xfrm>
        </p:spPr>
        <p:txBody>
          <a:bodyPr anchor="b"/>
          <a:lstStyle>
            <a:lvl1pPr algn="ctr">
              <a:defRPr sz="41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57" y="3602038"/>
            <a:ext cx="9144938" cy="1655762"/>
          </a:xfrm>
        </p:spPr>
        <p:txBody>
          <a:bodyPr/>
          <a:lstStyle>
            <a:lvl1pPr marL="0" indent="0" algn="ctr">
              <a:buNone/>
              <a:defRPr sz="1655"/>
            </a:lvl1pPr>
            <a:lvl2pPr marL="314960" indent="0" algn="ctr">
              <a:buNone/>
              <a:defRPr sz="1380"/>
            </a:lvl2pPr>
            <a:lvl3pPr marL="629920" indent="0" algn="ctr">
              <a:buNone/>
              <a:defRPr sz="1240"/>
            </a:lvl3pPr>
            <a:lvl4pPr marL="944880" indent="0" algn="ctr">
              <a:buNone/>
              <a:defRPr sz="1105"/>
            </a:lvl4pPr>
            <a:lvl5pPr marL="1260475" indent="0" algn="ctr">
              <a:buNone/>
              <a:defRPr sz="1105"/>
            </a:lvl5pPr>
            <a:lvl6pPr marL="1575435" indent="0" algn="ctr">
              <a:buNone/>
              <a:defRPr sz="1105"/>
            </a:lvl6pPr>
            <a:lvl7pPr marL="1890395" indent="0" algn="ctr">
              <a:buNone/>
              <a:defRPr sz="1105"/>
            </a:lvl7pPr>
            <a:lvl8pPr marL="2205355" indent="0" algn="ctr">
              <a:buNone/>
              <a:defRPr sz="1105"/>
            </a:lvl8pPr>
            <a:lvl9pPr marL="2520315" indent="0" algn="ctr">
              <a:buNone/>
              <a:defRPr sz="110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36" y="1709740"/>
            <a:ext cx="10516679" cy="2852737"/>
          </a:xfrm>
        </p:spPr>
        <p:txBody>
          <a:bodyPr anchor="b"/>
          <a:lstStyle>
            <a:lvl1pPr>
              <a:defRPr sz="41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36" y="4589465"/>
            <a:ext cx="10516679" cy="1500187"/>
          </a:xfrm>
        </p:spPr>
        <p:txBody>
          <a:bodyPr/>
          <a:lstStyle>
            <a:lvl1pPr marL="0" indent="0">
              <a:buNone/>
              <a:defRPr sz="1655">
                <a:solidFill>
                  <a:schemeClr val="tx1"/>
                </a:solidFill>
              </a:defRPr>
            </a:lvl1pPr>
            <a:lvl2pPr marL="314960" indent="0">
              <a:buNone/>
              <a:defRPr sz="1380">
                <a:solidFill>
                  <a:schemeClr val="tx1">
                    <a:tint val="75000"/>
                  </a:schemeClr>
                </a:solidFill>
              </a:defRPr>
            </a:lvl2pPr>
            <a:lvl3pPr marL="629920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3pPr>
            <a:lvl4pPr marL="944880" indent="0">
              <a:buNone/>
              <a:defRPr sz="1105">
                <a:solidFill>
                  <a:schemeClr val="tx1">
                    <a:tint val="75000"/>
                  </a:schemeClr>
                </a:solidFill>
              </a:defRPr>
            </a:lvl4pPr>
            <a:lvl5pPr marL="1260475" indent="0">
              <a:buNone/>
              <a:defRPr sz="1105">
                <a:solidFill>
                  <a:schemeClr val="tx1">
                    <a:tint val="75000"/>
                  </a:schemeClr>
                </a:solidFill>
              </a:defRPr>
            </a:lvl5pPr>
            <a:lvl6pPr marL="1575435" indent="0">
              <a:buNone/>
              <a:defRPr sz="1105">
                <a:solidFill>
                  <a:schemeClr val="tx1">
                    <a:tint val="75000"/>
                  </a:schemeClr>
                </a:solidFill>
              </a:defRPr>
            </a:lvl6pPr>
            <a:lvl7pPr marL="1890395" indent="0">
              <a:buNone/>
              <a:defRPr sz="1105">
                <a:solidFill>
                  <a:schemeClr val="tx1">
                    <a:tint val="75000"/>
                  </a:schemeClr>
                </a:solidFill>
              </a:defRPr>
            </a:lvl7pPr>
            <a:lvl8pPr marL="2205355" indent="0">
              <a:buNone/>
              <a:defRPr sz="1105">
                <a:solidFill>
                  <a:schemeClr val="tx1">
                    <a:tint val="75000"/>
                  </a:schemeClr>
                </a:solidFill>
              </a:defRPr>
            </a:lvl8pPr>
            <a:lvl9pPr marL="2520315" indent="0">
              <a:buNone/>
              <a:defRPr sz="11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86" y="1825625"/>
            <a:ext cx="518213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833" y="1825625"/>
            <a:ext cx="518213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74" y="365127"/>
            <a:ext cx="10516679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76" y="1681163"/>
            <a:ext cx="5158315" cy="823912"/>
          </a:xfrm>
        </p:spPr>
        <p:txBody>
          <a:bodyPr anchor="b"/>
          <a:lstStyle>
            <a:lvl1pPr marL="0" indent="0">
              <a:buNone/>
              <a:defRPr sz="1655" b="1"/>
            </a:lvl1pPr>
            <a:lvl2pPr marL="314960" indent="0">
              <a:buNone/>
              <a:defRPr sz="1380" b="1"/>
            </a:lvl2pPr>
            <a:lvl3pPr marL="629920" indent="0">
              <a:buNone/>
              <a:defRPr sz="1240" b="1"/>
            </a:lvl3pPr>
            <a:lvl4pPr marL="944880" indent="0">
              <a:buNone/>
              <a:defRPr sz="1105" b="1"/>
            </a:lvl4pPr>
            <a:lvl5pPr marL="1260475" indent="0">
              <a:buNone/>
              <a:defRPr sz="1105" b="1"/>
            </a:lvl5pPr>
            <a:lvl6pPr marL="1575435" indent="0">
              <a:buNone/>
              <a:defRPr sz="1105" b="1"/>
            </a:lvl6pPr>
            <a:lvl7pPr marL="1890395" indent="0">
              <a:buNone/>
              <a:defRPr sz="1105" b="1"/>
            </a:lvl7pPr>
            <a:lvl8pPr marL="2205355" indent="0">
              <a:buNone/>
              <a:defRPr sz="1105" b="1"/>
            </a:lvl8pPr>
            <a:lvl9pPr marL="2520315" indent="0">
              <a:buNone/>
              <a:defRPr sz="110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76" y="2505075"/>
            <a:ext cx="515831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833" y="1681163"/>
            <a:ext cx="5183720" cy="823912"/>
          </a:xfrm>
        </p:spPr>
        <p:txBody>
          <a:bodyPr anchor="b"/>
          <a:lstStyle>
            <a:lvl1pPr marL="0" indent="0">
              <a:buNone/>
              <a:defRPr sz="1655" b="1"/>
            </a:lvl1pPr>
            <a:lvl2pPr marL="314960" indent="0">
              <a:buNone/>
              <a:defRPr sz="1380" b="1"/>
            </a:lvl2pPr>
            <a:lvl3pPr marL="629920" indent="0">
              <a:buNone/>
              <a:defRPr sz="1240" b="1"/>
            </a:lvl3pPr>
            <a:lvl4pPr marL="944880" indent="0">
              <a:buNone/>
              <a:defRPr sz="1105" b="1"/>
            </a:lvl4pPr>
            <a:lvl5pPr marL="1260475" indent="0">
              <a:buNone/>
              <a:defRPr sz="1105" b="1"/>
            </a:lvl5pPr>
            <a:lvl6pPr marL="1575435" indent="0">
              <a:buNone/>
              <a:defRPr sz="1105" b="1"/>
            </a:lvl6pPr>
            <a:lvl7pPr marL="1890395" indent="0">
              <a:buNone/>
              <a:defRPr sz="1105" b="1"/>
            </a:lvl7pPr>
            <a:lvl8pPr marL="2205355" indent="0">
              <a:buNone/>
              <a:defRPr sz="1105" b="1"/>
            </a:lvl8pPr>
            <a:lvl9pPr marL="2520315" indent="0">
              <a:buNone/>
              <a:defRPr sz="110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833" y="2505075"/>
            <a:ext cx="518372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74" y="457200"/>
            <a:ext cx="3932640" cy="1600200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20" y="987427"/>
            <a:ext cx="6172833" cy="4873625"/>
          </a:xfrm>
        </p:spPr>
        <p:txBody>
          <a:bodyPr/>
          <a:lstStyle>
            <a:lvl1pPr>
              <a:defRPr sz="2205"/>
            </a:lvl1pPr>
            <a:lvl2pPr>
              <a:defRPr sz="1930"/>
            </a:lvl2pPr>
            <a:lvl3pPr>
              <a:defRPr sz="1655"/>
            </a:lvl3pPr>
            <a:lvl4pPr>
              <a:defRPr sz="1380"/>
            </a:lvl4pPr>
            <a:lvl5pPr>
              <a:defRPr sz="1380"/>
            </a:lvl5pPr>
            <a:lvl6pPr>
              <a:defRPr sz="1380"/>
            </a:lvl6pPr>
            <a:lvl7pPr>
              <a:defRPr sz="1380"/>
            </a:lvl7pPr>
            <a:lvl8pPr>
              <a:defRPr sz="1380"/>
            </a:lvl8pPr>
            <a:lvl9pPr>
              <a:defRPr sz="138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74" y="2057400"/>
            <a:ext cx="3932640" cy="3811588"/>
          </a:xfrm>
        </p:spPr>
        <p:txBody>
          <a:bodyPr/>
          <a:lstStyle>
            <a:lvl1pPr marL="0" indent="0">
              <a:buNone/>
              <a:defRPr sz="1105"/>
            </a:lvl1pPr>
            <a:lvl2pPr marL="314960" indent="0">
              <a:buNone/>
              <a:defRPr sz="965"/>
            </a:lvl2pPr>
            <a:lvl3pPr marL="629920" indent="0">
              <a:buNone/>
              <a:defRPr sz="825"/>
            </a:lvl3pPr>
            <a:lvl4pPr marL="944880" indent="0">
              <a:buNone/>
              <a:defRPr sz="690"/>
            </a:lvl4pPr>
            <a:lvl5pPr marL="1260475" indent="0">
              <a:buNone/>
              <a:defRPr sz="690"/>
            </a:lvl5pPr>
            <a:lvl6pPr marL="1575435" indent="0">
              <a:buNone/>
              <a:defRPr sz="690"/>
            </a:lvl6pPr>
            <a:lvl7pPr marL="1890395" indent="0">
              <a:buNone/>
              <a:defRPr sz="690"/>
            </a:lvl7pPr>
            <a:lvl8pPr marL="2205355" indent="0">
              <a:buNone/>
              <a:defRPr sz="690"/>
            </a:lvl8pPr>
            <a:lvl9pPr marL="2520315" indent="0">
              <a:buNone/>
              <a:defRPr sz="6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74" y="457200"/>
            <a:ext cx="3932640" cy="1600200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720" y="987427"/>
            <a:ext cx="6172833" cy="4873625"/>
          </a:xfrm>
        </p:spPr>
        <p:txBody>
          <a:bodyPr anchor="t"/>
          <a:lstStyle>
            <a:lvl1pPr marL="0" indent="0">
              <a:buNone/>
              <a:defRPr sz="2205"/>
            </a:lvl1pPr>
            <a:lvl2pPr marL="314960" indent="0">
              <a:buNone/>
              <a:defRPr sz="1930"/>
            </a:lvl2pPr>
            <a:lvl3pPr marL="629920" indent="0">
              <a:buNone/>
              <a:defRPr sz="1655"/>
            </a:lvl3pPr>
            <a:lvl4pPr marL="944880" indent="0">
              <a:buNone/>
              <a:defRPr sz="1380"/>
            </a:lvl4pPr>
            <a:lvl5pPr marL="1260475" indent="0">
              <a:buNone/>
              <a:defRPr sz="1380"/>
            </a:lvl5pPr>
            <a:lvl6pPr marL="1575435" indent="0">
              <a:buNone/>
              <a:defRPr sz="1380"/>
            </a:lvl6pPr>
            <a:lvl7pPr marL="1890395" indent="0">
              <a:buNone/>
              <a:defRPr sz="1380"/>
            </a:lvl7pPr>
            <a:lvl8pPr marL="2205355" indent="0">
              <a:buNone/>
              <a:defRPr sz="1380"/>
            </a:lvl8pPr>
            <a:lvl9pPr marL="2520315" indent="0">
              <a:buNone/>
              <a:defRPr sz="138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74" y="2057400"/>
            <a:ext cx="3932640" cy="3811588"/>
          </a:xfrm>
        </p:spPr>
        <p:txBody>
          <a:bodyPr/>
          <a:lstStyle>
            <a:lvl1pPr marL="0" indent="0">
              <a:buNone/>
              <a:defRPr sz="1105"/>
            </a:lvl1pPr>
            <a:lvl2pPr marL="314960" indent="0">
              <a:buNone/>
              <a:defRPr sz="965"/>
            </a:lvl2pPr>
            <a:lvl3pPr marL="629920" indent="0">
              <a:buNone/>
              <a:defRPr sz="825"/>
            </a:lvl3pPr>
            <a:lvl4pPr marL="944880" indent="0">
              <a:buNone/>
              <a:defRPr sz="690"/>
            </a:lvl4pPr>
            <a:lvl5pPr marL="1260475" indent="0">
              <a:buNone/>
              <a:defRPr sz="690"/>
            </a:lvl5pPr>
            <a:lvl6pPr marL="1575435" indent="0">
              <a:buNone/>
              <a:defRPr sz="690"/>
            </a:lvl6pPr>
            <a:lvl7pPr marL="1890395" indent="0">
              <a:buNone/>
              <a:defRPr sz="690"/>
            </a:lvl7pPr>
            <a:lvl8pPr marL="2205355" indent="0">
              <a:buNone/>
              <a:defRPr sz="690"/>
            </a:lvl8pPr>
            <a:lvl9pPr marL="2520315" indent="0">
              <a:buNone/>
              <a:defRPr sz="6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5796" y="365125"/>
            <a:ext cx="262916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88" y="365125"/>
            <a:ext cx="7735092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365125"/>
            <a:ext cx="105166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1825625"/>
            <a:ext cx="105166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86" y="365127"/>
            <a:ext cx="105166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86" y="1825625"/>
            <a:ext cx="1051667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86" y="6356352"/>
            <a:ext cx="27434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C57D2-20B2-4335-9758-044E7B5417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014" y="6356352"/>
            <a:ext cx="4115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484" y="6356352"/>
            <a:ext cx="27434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7E8CD-F9E0-4CAB-8C26-E6EBBC4C960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29920" rtl="0" eaLnBrk="1" latinLnBrk="0" hangingPunct="1">
        <a:lnSpc>
          <a:spcPct val="90000"/>
        </a:lnSpc>
        <a:spcBef>
          <a:spcPct val="0"/>
        </a:spcBef>
        <a:buNone/>
        <a:defRPr sz="30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7480" indent="-157480" algn="l" defTabSz="629920" rtl="0" eaLnBrk="1" latinLnBrk="0" hangingPunct="1">
        <a:lnSpc>
          <a:spcPct val="90000"/>
        </a:lnSpc>
        <a:spcBef>
          <a:spcPts val="690"/>
        </a:spcBef>
        <a:buFont typeface="Arial" panose="020B0604020202020204" pitchFamily="34" charset="0"/>
        <a:buChar char="•"/>
        <a:defRPr sz="1930" kern="1200">
          <a:solidFill>
            <a:schemeClr val="tx1"/>
          </a:solidFill>
          <a:latin typeface="+mn-lt"/>
          <a:ea typeface="+mn-ea"/>
          <a:cs typeface="+mn-cs"/>
        </a:defRPr>
      </a:lvl1pPr>
      <a:lvl2pPr marL="472440" indent="-157480" algn="l" defTabSz="62992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2pPr>
      <a:lvl3pPr marL="787400" indent="-157480" algn="l" defTabSz="62992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380" kern="1200">
          <a:solidFill>
            <a:schemeClr val="tx1"/>
          </a:solidFill>
          <a:latin typeface="+mn-lt"/>
          <a:ea typeface="+mn-ea"/>
          <a:cs typeface="+mn-cs"/>
        </a:defRPr>
      </a:lvl3pPr>
      <a:lvl4pPr marL="1102995" indent="-157480" algn="l" defTabSz="62992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4pPr>
      <a:lvl5pPr marL="1417955" indent="-157480" algn="l" defTabSz="62992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5pPr>
      <a:lvl6pPr marL="1732915" indent="-157480" algn="l" defTabSz="62992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6pPr>
      <a:lvl7pPr marL="2047875" indent="-157480" algn="l" defTabSz="62992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7pPr>
      <a:lvl8pPr marL="2362835" indent="-157480" algn="l" defTabSz="62992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8pPr>
      <a:lvl9pPr marL="2677795" indent="-157480" algn="l" defTabSz="62992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9920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1pPr>
      <a:lvl2pPr marL="314960" algn="l" defTabSz="629920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2pPr>
      <a:lvl3pPr marL="629920" algn="l" defTabSz="629920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44880" algn="l" defTabSz="629920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4pPr>
      <a:lvl5pPr marL="1260475" algn="l" defTabSz="629920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5pPr>
      <a:lvl6pPr marL="1575435" algn="l" defTabSz="629920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6pPr>
      <a:lvl7pPr marL="1890395" algn="l" defTabSz="629920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7pPr>
      <a:lvl8pPr marL="2205355" algn="l" defTabSz="629920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8pPr>
      <a:lvl9pPr marL="2520315" algn="l" defTabSz="629920" rtl="0" eaLnBrk="1" latinLnBrk="0" hangingPunct="1">
        <a:defRPr sz="1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8" Type="http://schemas.openxmlformats.org/officeDocument/2006/relationships/notesSlide" Target="../notesSlides/notesSlide1.x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41.png"/><Relationship Id="rId25" Type="http://schemas.openxmlformats.org/officeDocument/2006/relationships/image" Target="../media/image40.png"/><Relationship Id="rId24" Type="http://schemas.openxmlformats.org/officeDocument/2006/relationships/image" Target="../media/image39.png"/><Relationship Id="rId23" Type="http://schemas.openxmlformats.org/officeDocument/2006/relationships/image" Target="../media/image38.png"/><Relationship Id="rId22" Type="http://schemas.openxmlformats.org/officeDocument/2006/relationships/image" Target="../media/image37.svg"/><Relationship Id="rId21" Type="http://schemas.openxmlformats.org/officeDocument/2006/relationships/image" Target="../media/image36.png"/><Relationship Id="rId20" Type="http://schemas.openxmlformats.org/officeDocument/2006/relationships/image" Target="../media/image35.svg"/><Relationship Id="rId2" Type="http://schemas.openxmlformats.org/officeDocument/2006/relationships/image" Target="../media/image17.svg"/><Relationship Id="rId19" Type="http://schemas.openxmlformats.org/officeDocument/2006/relationships/image" Target="../media/image34.png"/><Relationship Id="rId18" Type="http://schemas.openxmlformats.org/officeDocument/2006/relationships/image" Target="../media/image33.png"/><Relationship Id="rId17" Type="http://schemas.openxmlformats.org/officeDocument/2006/relationships/image" Target="../media/image32.png"/><Relationship Id="rId16" Type="http://schemas.openxmlformats.org/officeDocument/2006/relationships/image" Target="../media/image31.png"/><Relationship Id="rId15" Type="http://schemas.openxmlformats.org/officeDocument/2006/relationships/image" Target="../media/image30.svg"/><Relationship Id="rId14" Type="http://schemas.openxmlformats.org/officeDocument/2006/relationships/image" Target="../media/image29.png"/><Relationship Id="rId13" Type="http://schemas.openxmlformats.org/officeDocument/2006/relationships/image" Target="../media/image28.svg"/><Relationship Id="rId12" Type="http://schemas.openxmlformats.org/officeDocument/2006/relationships/image" Target="../media/image27.svg"/><Relationship Id="rId11" Type="http://schemas.openxmlformats.org/officeDocument/2006/relationships/image" Target="../media/image26.png"/><Relationship Id="rId10" Type="http://schemas.openxmlformats.org/officeDocument/2006/relationships/image" Target="../media/image25.sv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591185" y="222885"/>
            <a:ext cx="10534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等线" panose="02010600030101010101" charset="-122"/>
                <a:ea typeface="等线" panose="02010600030101010101" charset="-122"/>
              </a:rPr>
              <a:t>Fig.1a   UroIPND Evaluation Framework and Hierarchial Curation Pipeline</a:t>
            </a:r>
            <a:endParaRPr lang="en-US" altLang="zh-CN" sz="2400" b="1">
              <a:latin typeface="等线" panose="02010600030101010101" charset="-122"/>
              <a:ea typeface="等线" panose="02010600030101010101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74800" y="250825"/>
            <a:ext cx="6985" cy="439420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21335" y="899160"/>
            <a:ext cx="2621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accent1"/>
                </a:solidFill>
              </a:rPr>
              <a:t>L1</a:t>
            </a:r>
            <a:r>
              <a:rPr lang="en-US" altLang="zh-CN">
                <a:solidFill>
                  <a:schemeClr val="accent1"/>
                </a:solidFill>
              </a:rPr>
              <a:t> </a:t>
            </a:r>
            <a:r>
              <a:rPr lang="en-US" altLang="zh-CN"/>
              <a:t> </a:t>
            </a:r>
            <a:r>
              <a:rPr lang="en-US" altLang="zh-CN" b="1">
                <a:latin typeface="等线" panose="02010600030101010101" charset="-122"/>
                <a:ea typeface="等线" panose="02010600030101010101" charset="-122"/>
              </a:rPr>
              <a:t>DATASET ORIGIN</a:t>
            </a:r>
            <a:endParaRPr lang="en-US" altLang="zh-CN" b="1"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b="1">
                <a:latin typeface="等线" panose="02010600030101010101" charset="-122"/>
                <a:ea typeface="等线" panose="02010600030101010101" charset="-122"/>
              </a:rPr>
              <a:t>(2018-2024)</a:t>
            </a:r>
            <a:endParaRPr lang="en-US" altLang="zh-CN" b="1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94360" y="1544320"/>
            <a:ext cx="2204085" cy="24434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1047115" y="894080"/>
            <a:ext cx="6985" cy="439420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520700" y="4113530"/>
            <a:ext cx="2566670" cy="26003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3907790" y="1544320"/>
            <a:ext cx="4044950" cy="19075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844925" y="894080"/>
            <a:ext cx="41078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accent1"/>
                </a:solidFill>
              </a:rPr>
              <a:t>L2 </a:t>
            </a:r>
            <a:r>
              <a:rPr lang="en-US" altLang="zh-CN" b="1"/>
              <a:t> </a:t>
            </a:r>
            <a:r>
              <a:rPr lang="en-US" altLang="zh-CN" b="1">
                <a:latin typeface="等线" panose="02010600030101010101" charset="-122"/>
                <a:ea typeface="等线" panose="02010600030101010101" charset="-122"/>
              </a:rPr>
              <a:t>HIERARCHIAL QUALITY CONTROL CURATION PIPELINE</a:t>
            </a:r>
            <a:endParaRPr lang="en-US" altLang="zh-CN" b="1">
              <a:latin typeface="等线" panose="02010600030101010101" charset="-122"/>
              <a:ea typeface="等线" panose="02010600030101010101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4243070" y="894080"/>
            <a:ext cx="6985" cy="439420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8351520" y="894080"/>
            <a:ext cx="33451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accent1"/>
                </a:solidFill>
              </a:rPr>
              <a:t>L3 </a:t>
            </a:r>
            <a:r>
              <a:rPr lang="en-US" altLang="zh-CN" b="1"/>
              <a:t> </a:t>
            </a:r>
            <a:r>
              <a:rPr lang="en-US" altLang="zh-CN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EVALUATION TESTBED ＆SCENARIO MAPPING</a:t>
            </a:r>
            <a:endParaRPr lang="en-US" altLang="zh-CN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8804275" y="894080"/>
            <a:ext cx="6985" cy="439420"/>
          </a:xfrm>
          <a:prstGeom prst="line">
            <a:avLst/>
          </a:pr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8564880" y="1544320"/>
            <a:ext cx="3021330" cy="30537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8564880" y="4680585"/>
            <a:ext cx="3021330" cy="20421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3704590" y="1066800"/>
            <a:ext cx="29210" cy="565594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" y="1502410"/>
            <a:ext cx="1627505" cy="1627505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4958715" y="1544320"/>
            <a:ext cx="3129280" cy="1999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Junior Urological Teams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en-US" altLang="zh-CN" sz="1600" b="1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US" altLang="zh-CN" sz="1600" b="1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</a:rPr>
              <a:t>≥3 yrs exp)</a:t>
            </a:r>
            <a:endParaRPr lang="en-US" altLang="zh-CN" sz="1600" b="1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171450" indent="-171450" fontAlgn="auto">
              <a:lnSpc>
                <a:spcPct val="150000"/>
              </a:lnSpc>
              <a:buClr>
                <a:srgbClr val="4874CB"/>
              </a:buClr>
              <a:buFont typeface="Wingdings" panose="05000000000000000000" charset="0"/>
              <a:buChar char="l"/>
            </a:pPr>
            <a:r>
              <a:rPr lang="en-US" altLang="zh-CN" sz="160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6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initial review ＆normalization</a:t>
            </a:r>
            <a:endParaRPr lang="en-US" altLang="zh-CN" sz="16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 fontAlgn="auto">
              <a:lnSpc>
                <a:spcPct val="150000"/>
              </a:lnSpc>
              <a:buClr>
                <a:srgbClr val="4874CB"/>
              </a:buClr>
              <a:buFont typeface="Wingdings" panose="05000000000000000000" charset="0"/>
              <a:buChar char="l"/>
            </a:pPr>
            <a:r>
              <a:rPr lang="en-US" altLang="zh-CN" sz="16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deconfounder annotation</a:t>
            </a:r>
            <a:endParaRPr lang="en-US" altLang="zh-CN" sz="16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 fontAlgn="auto">
              <a:lnSpc>
                <a:spcPct val="150000"/>
              </a:lnSpc>
              <a:buClr>
                <a:srgbClr val="4874CB"/>
              </a:buClr>
              <a:buFont typeface="Wingdings" panose="05000000000000000000" charset="0"/>
              <a:buChar char="l"/>
            </a:pPr>
            <a:r>
              <a:rPr lang="en-US" altLang="zh-CN" sz="16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de-identification</a:t>
            </a:r>
            <a:endParaRPr lang="en-US" altLang="zh-CN" sz="16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endParaRPr lang="en-US" altLang="zh-CN" sz="16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35" y="4113530"/>
            <a:ext cx="1285240" cy="1151890"/>
          </a:xfrm>
          <a:prstGeom prst="rect">
            <a:avLst/>
          </a:prstGeom>
        </p:spPr>
      </p:pic>
      <p:sp>
        <p:nvSpPr>
          <p:cNvPr id="58" name="文本框 57"/>
          <p:cNvSpPr txBox="1"/>
          <p:nvPr/>
        </p:nvSpPr>
        <p:spPr>
          <a:xfrm>
            <a:off x="593090" y="5207000"/>
            <a:ext cx="2780665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Teaching/Literature Cases 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en-US" altLang="zh-CN" sz="1600" b="1">
                <a:solidFill>
                  <a:schemeClr val="accent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n=102</a:t>
            </a:r>
            <a:endParaRPr lang="en-US" altLang="zh-CN" sz="1600" b="1">
              <a:solidFill>
                <a:schemeClr val="accent2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en-US" altLang="zh-CN" sz="1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tailored ＆ redesigned </a:t>
            </a:r>
            <a:endParaRPr lang="en-US" altLang="zh-CN" sz="12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en-US" altLang="zh-CN" sz="1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reasoning-rich cases by </a:t>
            </a:r>
            <a:endParaRPr lang="en-US" altLang="zh-CN" sz="12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r>
              <a:rPr lang="en-US" altLang="zh-CN" sz="12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SRRSH specialized teams</a:t>
            </a:r>
            <a:endParaRPr lang="en-US" altLang="zh-CN" sz="12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50" y="2585085"/>
            <a:ext cx="812165" cy="972820"/>
          </a:xfrm>
          <a:prstGeom prst="rect">
            <a:avLst/>
          </a:prstGeom>
        </p:spPr>
      </p:pic>
      <p:sp>
        <p:nvSpPr>
          <p:cNvPr id="61" name="圆角矩形 60"/>
          <p:cNvSpPr/>
          <p:nvPr/>
        </p:nvSpPr>
        <p:spPr>
          <a:xfrm>
            <a:off x="3907790" y="4534535"/>
            <a:ext cx="4044315" cy="232219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2365375" y="3485515"/>
            <a:ext cx="15760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Case </a:t>
            </a:r>
            <a:endParaRPr lang="en-US" altLang="zh-CN" sz="1400" b="1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Extraction Structuring ＆</a:t>
            </a:r>
            <a:endParaRPr lang="en-US" altLang="zh-CN" sz="1400" b="1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De-identification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564880" y="1623695"/>
            <a:ext cx="30346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UroIPND-702</a:t>
            </a:r>
            <a:endParaRPr lang="en-US" altLang="zh-CN" sz="2000" b="1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sz="1600" b="1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</a:rPr>
              <a:t>broad heterogeneous cohort</a:t>
            </a:r>
            <a:endParaRPr lang="en-US" altLang="zh-CN" sz="1600" b="1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sz="1600" b="1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</a:rPr>
              <a:t>n=600</a:t>
            </a:r>
            <a:endParaRPr lang="en-US" altLang="zh-CN" sz="1600" b="1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sz="1200">
                <a:latin typeface="等线" panose="02010600030101010101" charset="-122"/>
                <a:ea typeface="等线" panose="02010600030101010101" charset="-122"/>
              </a:rPr>
              <a:t>broad clinical heterogeneity</a:t>
            </a:r>
            <a:endParaRPr lang="en-US" altLang="zh-CN" sz="12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8665210" y="2694940"/>
            <a:ext cx="2848610" cy="18053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圆角矩形 68"/>
          <p:cNvSpPr/>
          <p:nvPr/>
        </p:nvSpPr>
        <p:spPr>
          <a:xfrm>
            <a:off x="8738235" y="2784475"/>
            <a:ext cx="2665095" cy="159702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8564880" y="2893060"/>
            <a:ext cx="303466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UroIPND-102</a:t>
            </a:r>
            <a:endParaRPr lang="en-US" altLang="zh-CN" sz="2000" b="1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sz="1600" b="1">
                <a:solidFill>
                  <a:schemeClr val="accent2"/>
                </a:solidFill>
                <a:latin typeface="等线" panose="02010600030101010101" charset="-122"/>
                <a:ea typeface="等线" panose="02010600030101010101" charset="-122"/>
              </a:rPr>
              <a:t>Curated Reference Standard</a:t>
            </a:r>
            <a:endParaRPr lang="en-US" altLang="zh-CN" sz="1600" b="1">
              <a:solidFill>
                <a:schemeClr val="accent2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sz="1600" b="1">
                <a:solidFill>
                  <a:schemeClr val="accent2"/>
                </a:solidFill>
                <a:latin typeface="等线" panose="02010600030101010101" charset="-122"/>
                <a:ea typeface="等线" panose="02010600030101010101" charset="-122"/>
              </a:rPr>
              <a:t>n=102</a:t>
            </a:r>
            <a:endParaRPr lang="en-US" altLang="zh-CN" sz="1600" b="1">
              <a:solidFill>
                <a:schemeClr val="accent2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sz="1200">
                <a:latin typeface="等线" panose="02010600030101010101" charset="-122"/>
                <a:ea typeface="等线" panose="02010600030101010101" charset="-122"/>
              </a:rPr>
              <a:t>high-complexity reasoning cases</a:t>
            </a:r>
            <a:endParaRPr lang="en-US" altLang="zh-CN" sz="1200"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sz="1200">
                <a:latin typeface="等线" panose="02010600030101010101" charset="-122"/>
                <a:ea typeface="等线" panose="02010600030101010101" charset="-122"/>
              </a:rPr>
              <a:t>reasoning testbed</a:t>
            </a:r>
            <a:endParaRPr lang="en-US" altLang="zh-CN" sz="12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050" y="1924050"/>
            <a:ext cx="1128395" cy="802640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330" y="4987290"/>
            <a:ext cx="793115" cy="311785"/>
          </a:xfrm>
          <a:prstGeom prst="rect">
            <a:avLst/>
          </a:prstGeom>
        </p:spPr>
      </p:pic>
      <p:cxnSp>
        <p:nvCxnSpPr>
          <p:cNvPr id="73" name="直接连接符 72"/>
          <p:cNvCxnSpPr/>
          <p:nvPr/>
        </p:nvCxnSpPr>
        <p:spPr>
          <a:xfrm>
            <a:off x="8427720" y="1066800"/>
            <a:ext cx="36830" cy="5596255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4" name="图片 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9410" y="5265420"/>
            <a:ext cx="632460" cy="311785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8486140" y="4806950"/>
            <a:ext cx="3034665" cy="692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UroIPND-20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sz="1600">
                <a:latin typeface="等线" panose="02010600030101010101" charset="-122"/>
                <a:ea typeface="等线" panose="02010600030101010101" charset="-122"/>
              </a:rPr>
              <a:t>(n=20 Core Stress Subset)</a:t>
            </a:r>
            <a:endParaRPr lang="en-US" altLang="zh-CN" sz="1600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endParaRPr lang="en-US" altLang="zh-CN" sz="12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564880" y="6244590"/>
            <a:ext cx="2974975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等线" panose="02010600030101010101" charset="-122"/>
                <a:ea typeface="等线" panose="02010600030101010101" charset="-122"/>
                <a:sym typeface="+mn-ea"/>
              </a:rPr>
              <a:t>derived ror interaction-level</a:t>
            </a:r>
            <a:endParaRPr lang="en-US" altLang="zh-CN" sz="1200"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sz="1200">
                <a:latin typeface="等线" panose="02010600030101010101" charset="-122"/>
                <a:ea typeface="等线" panose="02010600030101010101" charset="-122"/>
                <a:sym typeface="+mn-ea"/>
              </a:rPr>
              <a:t> stress-test</a:t>
            </a:r>
            <a:endParaRPr lang="en-US" altLang="zh-CN" sz="1200"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8639175" y="5436235"/>
            <a:ext cx="2877820" cy="86931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9664065" y="5436235"/>
            <a:ext cx="2117090" cy="692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200" b="1">
                <a:solidFill>
                  <a:schemeClr val="accent6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</a:rPr>
              <a:t>n=20 high-pressure</a:t>
            </a:r>
            <a:endParaRPr lang="en-US" altLang="zh-CN" sz="1200" b="1">
              <a:solidFill>
                <a:schemeClr val="accent6">
                  <a:lumMod val="75000"/>
                </a:schemeClr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l"/>
            <a:r>
              <a:rPr lang="en-US" altLang="zh-CN" sz="1200" b="1">
                <a:solidFill>
                  <a:schemeClr val="accent6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</a:rPr>
              <a:t>interactive SP</a:t>
            </a:r>
            <a:endParaRPr lang="en-US" altLang="zh-CN" sz="1200" b="1">
              <a:solidFill>
                <a:schemeClr val="accent6">
                  <a:lumMod val="75000"/>
                </a:schemeClr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l"/>
            <a:r>
              <a:rPr lang="en-US" altLang="zh-CN" sz="1200" b="1">
                <a:solidFill>
                  <a:schemeClr val="accent6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</a:rPr>
              <a:t>interactive </a:t>
            </a:r>
            <a:endParaRPr lang="en-US" altLang="zh-CN" sz="1200" b="1">
              <a:solidFill>
                <a:schemeClr val="accent6">
                  <a:lumMod val="75000"/>
                </a:schemeClr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l"/>
            <a:r>
              <a:rPr lang="en-US" altLang="zh-CN" sz="1200" b="1">
                <a:solidFill>
                  <a:schemeClr val="accent6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</a:rPr>
              <a:t>Benchmarking</a:t>
            </a:r>
            <a:endParaRPr lang="en-US" altLang="zh-CN" sz="1200" b="1">
              <a:solidFill>
                <a:schemeClr val="accent6">
                  <a:lumMod val="75000"/>
                </a:schemeClr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2525" y="5459095"/>
            <a:ext cx="730885" cy="844550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779145" y="2957830"/>
            <a:ext cx="27806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Real-World EMR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en-US" altLang="zh-CN" sz="1600" b="1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</a:rPr>
              <a:t>n=600</a:t>
            </a:r>
            <a:endParaRPr lang="en-US" altLang="zh-CN" sz="1600" b="1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en-US" altLang="zh-CN" sz="1200">
                <a:latin typeface="等线" panose="02010600030101010101" charset="-122"/>
                <a:ea typeface="等线" panose="02010600030101010101" charset="-122"/>
              </a:rPr>
              <a:t>retrospective data, </a:t>
            </a:r>
            <a:endParaRPr lang="en-US" altLang="zh-CN" sz="1200"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en-US" altLang="zh-CN" sz="1200">
                <a:latin typeface="等线" panose="02010600030101010101" charset="-122"/>
                <a:ea typeface="等线" panose="02010600030101010101" charset="-122"/>
              </a:rPr>
              <a:t>Registry Grounded source</a:t>
            </a:r>
            <a:endParaRPr lang="en-US" altLang="zh-CN" sz="12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3030" y="1750060"/>
            <a:ext cx="1161415" cy="1181100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8580" y="4806950"/>
            <a:ext cx="1313180" cy="1136650"/>
          </a:xfrm>
          <a:prstGeom prst="rect">
            <a:avLst/>
          </a:prstGeom>
        </p:spPr>
      </p:pic>
      <p:sp>
        <p:nvSpPr>
          <p:cNvPr id="83" name="文本框 82"/>
          <p:cNvSpPr txBox="1"/>
          <p:nvPr/>
        </p:nvSpPr>
        <p:spPr>
          <a:xfrm>
            <a:off x="5080000" y="4598035"/>
            <a:ext cx="3129280" cy="1463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3 S</a:t>
            </a:r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enior Consultants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en-US" altLang="zh-CN" sz="1600" b="1">
                <a:solidFill>
                  <a:schemeClr val="accent2"/>
                </a:solidFill>
                <a:latin typeface="等线" panose="02010600030101010101" charset="-122"/>
                <a:ea typeface="等线" panose="02010600030101010101" charset="-122"/>
              </a:rPr>
              <a:t>(≥25 yrs exp)</a:t>
            </a:r>
            <a:endParaRPr lang="en-US" altLang="zh-CN" sz="1200">
              <a:latin typeface="等线" panose="02010600030101010101" charset="-122"/>
              <a:ea typeface="等线" panose="02010600030101010101" charset="-122"/>
            </a:endParaRPr>
          </a:p>
          <a:p>
            <a:pPr marL="285750" indent="-285750">
              <a:buClr>
                <a:srgbClr val="EE822F"/>
              </a:buClr>
              <a:buFont typeface="Wingdings" panose="05000000000000000000" charset="0"/>
              <a:buChar char="l"/>
            </a:pPr>
            <a:r>
              <a:rPr lang="en-US" altLang="zh-CN" sz="16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Expert adjudication</a:t>
            </a:r>
            <a:endParaRPr lang="en-US" altLang="zh-CN" sz="16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indent="0">
              <a:buClr>
                <a:srgbClr val="EE822F"/>
              </a:buClr>
              <a:buFont typeface="Wingdings" panose="05000000000000000000" charset="0"/>
              <a:buNone/>
            </a:pPr>
            <a:r>
              <a:rPr lang="en-US" altLang="zh-CN" sz="16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 (</a:t>
            </a:r>
            <a:r>
              <a:rPr lang="en-US" altLang="zh-CN" sz="14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Formal Audit ＆ Refinement</a:t>
            </a:r>
            <a:r>
              <a:rPr lang="en-US" altLang="zh-CN" sz="16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)</a:t>
            </a:r>
            <a:endParaRPr lang="en-US" altLang="zh-CN" sz="16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buClr>
                <a:srgbClr val="EE822F"/>
              </a:buClr>
              <a:buFont typeface="Wingdings" panose="05000000000000000000" charset="0"/>
              <a:buChar char="l"/>
            </a:pPr>
            <a:r>
              <a:rPr lang="en-US" altLang="zh-CN" sz="16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consensus adjudication</a:t>
            </a:r>
            <a:endParaRPr lang="en-US" altLang="zh-CN" sz="16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buClr>
                <a:srgbClr val="EE822F"/>
              </a:buClr>
              <a:buFont typeface="Wingdings" panose="05000000000000000000" charset="0"/>
              <a:buChar char="l"/>
            </a:pPr>
            <a:r>
              <a:rPr lang="en-US" altLang="zh-CN" sz="16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double-blind review</a:t>
            </a:r>
            <a:endParaRPr lang="en-US" altLang="zh-CN" sz="16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285750" indent="-285750">
              <a:buClr>
                <a:srgbClr val="EE822F"/>
              </a:buClr>
              <a:buFont typeface="Wingdings" panose="05000000000000000000" charset="0"/>
              <a:buChar char="l"/>
            </a:pPr>
            <a:r>
              <a:rPr lang="en-US" altLang="zh-CN" sz="16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EAU Guidelines alignment</a:t>
            </a:r>
            <a:endParaRPr lang="en-US" altLang="zh-CN" sz="16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cxnSp>
        <p:nvCxnSpPr>
          <p:cNvPr id="84" name="直接连接符 83"/>
          <p:cNvCxnSpPr/>
          <p:nvPr/>
        </p:nvCxnSpPr>
        <p:spPr>
          <a:xfrm>
            <a:off x="3878580" y="6402070"/>
            <a:ext cx="4137660" cy="82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4555490" y="6402070"/>
            <a:ext cx="353250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200" b="1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All n=702 cases went through all steps, Consolidation is accurate ＆ technical meaning.</a:t>
            </a:r>
            <a:endParaRPr lang="en-US" altLang="zh-CN" sz="12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9415" y="6452870"/>
            <a:ext cx="346075" cy="377190"/>
          </a:xfrm>
          <a:prstGeom prst="rect">
            <a:avLst/>
          </a:prstGeom>
        </p:spPr>
      </p:pic>
      <p:sp>
        <p:nvSpPr>
          <p:cNvPr id="87" name="文本框 86"/>
          <p:cNvSpPr txBox="1"/>
          <p:nvPr/>
        </p:nvSpPr>
        <p:spPr>
          <a:xfrm>
            <a:off x="3704590" y="3485515"/>
            <a:ext cx="13512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chemeClr val="accent1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Tiered Quality Control and Adjudication Flow</a:t>
            </a:r>
            <a:r>
              <a:rPr lang="en-US" altLang="zh-CN" sz="1400">
                <a:solidFill>
                  <a:schemeClr val="accent1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en-US" altLang="zh-CN" sz="1400">
              <a:solidFill>
                <a:schemeClr val="accent1">
                  <a:lumMod val="75000"/>
                </a:schemeClr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8" name="椭圆 87"/>
          <p:cNvSpPr/>
          <p:nvPr/>
        </p:nvSpPr>
        <p:spPr>
          <a:xfrm>
            <a:off x="5441950" y="3511550"/>
            <a:ext cx="985520" cy="1017270"/>
          </a:xfrm>
          <a:prstGeom prst="ellipse">
            <a:avLst/>
          </a:prstGeom>
          <a:noFill/>
          <a:ln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9" name="直接箭头连接符 88"/>
          <p:cNvCxnSpPr/>
          <p:nvPr/>
        </p:nvCxnSpPr>
        <p:spPr>
          <a:xfrm>
            <a:off x="5934710" y="3265170"/>
            <a:ext cx="0" cy="24638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0" name="图片 8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3075" y="3561715"/>
            <a:ext cx="788670" cy="683895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5141595" y="4113530"/>
            <a:ext cx="15760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Consensus</a:t>
            </a:r>
            <a:endParaRPr lang="en-US" altLang="zh-CN" sz="1200" b="1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>
            <a:off x="5947410" y="4534535"/>
            <a:ext cx="0" cy="246380"/>
          </a:xfrm>
          <a:prstGeom prst="straightConnector1">
            <a:avLst/>
          </a:prstGeom>
          <a:ln w="31750" cap="rnd">
            <a:solidFill>
              <a:schemeClr val="accent2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3" name="图片 92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27470" y="3841750"/>
            <a:ext cx="697230" cy="311785"/>
          </a:xfrm>
          <a:prstGeom prst="rect">
            <a:avLst/>
          </a:prstGeom>
          <a:ln>
            <a:noFill/>
          </a:ln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209280" y="3841750"/>
            <a:ext cx="402590" cy="311785"/>
          </a:xfrm>
          <a:prstGeom prst="rect">
            <a:avLst/>
          </a:prstGeom>
          <a:ln>
            <a:noFill/>
          </a:ln>
        </p:spPr>
      </p:pic>
      <p:sp>
        <p:nvSpPr>
          <p:cNvPr id="95" name="圆角矩形 94"/>
          <p:cNvSpPr/>
          <p:nvPr/>
        </p:nvSpPr>
        <p:spPr>
          <a:xfrm>
            <a:off x="7125335" y="3498850"/>
            <a:ext cx="1083945" cy="10991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1230" y="3521710"/>
            <a:ext cx="715010" cy="495300"/>
          </a:xfrm>
          <a:prstGeom prst="rect">
            <a:avLst/>
          </a:prstGeom>
        </p:spPr>
      </p:pic>
      <p:sp>
        <p:nvSpPr>
          <p:cNvPr id="97" name="文本框 96"/>
          <p:cNvSpPr txBox="1"/>
          <p:nvPr/>
        </p:nvSpPr>
        <p:spPr>
          <a:xfrm>
            <a:off x="6851650" y="3952875"/>
            <a:ext cx="1576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Final Dataset</a:t>
            </a:r>
            <a:endParaRPr lang="en-US" altLang="zh-CN" sz="1200" b="1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Generation ＆</a:t>
            </a:r>
            <a:endParaRPr lang="en-US" altLang="zh-CN" sz="1200" b="1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Deployment</a:t>
            </a:r>
            <a:endParaRPr lang="en-US" altLang="zh-CN" sz="1200" b="1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3816985" y="14605"/>
            <a:ext cx="4565650" cy="9899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4660265" y="156210"/>
            <a:ext cx="38773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Assessment for eligibility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(n=154,633 examinations)</a:t>
            </a:r>
            <a:endParaRPr lang="en-US" altLang="zh-CN" sz="14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6675" y="14605"/>
            <a:ext cx="844550" cy="88265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3816985" y="3096260"/>
            <a:ext cx="4565650" cy="9899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546600" y="3214370"/>
            <a:ext cx="405193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Included after physician criteria               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  (n=116,336 examinations)</a:t>
            </a:r>
            <a:endParaRPr lang="en-US" altLang="zh-CN" sz="14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190" y="3214370"/>
            <a:ext cx="613410" cy="695325"/>
          </a:xfrm>
          <a:prstGeom prst="rect">
            <a:avLst/>
          </a:prstGeom>
        </p:spPr>
      </p:pic>
      <p:cxnSp>
        <p:nvCxnSpPr>
          <p:cNvPr id="10" name="直线箭头连接符 83"/>
          <p:cNvCxnSpPr/>
          <p:nvPr/>
        </p:nvCxnSpPr>
        <p:spPr>
          <a:xfrm>
            <a:off x="6112550" y="2570292"/>
            <a:ext cx="635" cy="51308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3816985" y="5868035"/>
            <a:ext cx="4565650" cy="9899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660265" y="6009640"/>
            <a:ext cx="40519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Final analysis cohort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(n=94,228 examinations)</a:t>
            </a:r>
            <a:endParaRPr lang="en-US" altLang="zh-CN" sz="14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190" y="5868035"/>
            <a:ext cx="633730" cy="706755"/>
          </a:xfrm>
          <a:prstGeom prst="rect">
            <a:avLst/>
          </a:prstGeom>
        </p:spPr>
      </p:pic>
      <p:cxnSp>
        <p:nvCxnSpPr>
          <p:cNvPr id="14" name="直线箭头连接符 83"/>
          <p:cNvCxnSpPr>
            <a:endCxn id="18" idx="0"/>
          </p:cNvCxnSpPr>
          <p:nvPr/>
        </p:nvCxnSpPr>
        <p:spPr>
          <a:xfrm>
            <a:off x="6099215" y="4086037"/>
            <a:ext cx="635" cy="30797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线箭头连接符 83"/>
          <p:cNvCxnSpPr>
            <a:stCxn id="18" idx="2"/>
          </p:cNvCxnSpPr>
          <p:nvPr/>
        </p:nvCxnSpPr>
        <p:spPr>
          <a:xfrm>
            <a:off x="6099850" y="5701477"/>
            <a:ext cx="1270" cy="16637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3816985" y="1281430"/>
            <a:ext cx="4565650" cy="130746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线箭头连接符 83"/>
          <p:cNvCxnSpPr/>
          <p:nvPr/>
        </p:nvCxnSpPr>
        <p:spPr>
          <a:xfrm>
            <a:off x="6101120" y="1036132"/>
            <a:ext cx="11430" cy="24447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3816985" y="4394200"/>
            <a:ext cx="4565650" cy="130746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190" y="1280795"/>
            <a:ext cx="532765" cy="7131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585" y="4394200"/>
            <a:ext cx="547370" cy="73342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545965" y="1280795"/>
            <a:ext cx="3836035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Excluded with reasons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pPr marL="285750" indent="-285750">
              <a:buClr>
                <a:srgbClr val="000000"/>
              </a:buClr>
              <a:buFont typeface="Wingdings" panose="05000000000000000000" charset="0"/>
              <a:buChar char="l"/>
            </a:pPr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Did not complete normal consultation</a:t>
            </a:r>
            <a:endParaRPr lang="en-US" altLang="zh-CN" sz="1400">
              <a:latin typeface="等线" panose="02010600030101010101" charset="-122"/>
              <a:ea typeface="等线" panose="02010600030101010101" charset="-122"/>
            </a:endParaRPr>
          </a:p>
          <a:p>
            <a:pPr marL="285750" indent="-285750">
              <a:buClr>
                <a:srgbClr val="000000"/>
              </a:buClr>
              <a:buFont typeface="Wingdings" panose="05000000000000000000" charset="0"/>
              <a:buChar char="l"/>
            </a:pPr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Did not write medical records normally</a:t>
            </a:r>
            <a:endParaRPr lang="en-US" altLang="zh-CN" sz="1400">
              <a:latin typeface="等线" panose="02010600030101010101" charset="-122"/>
              <a:ea typeface="等线" panose="02010600030101010101" charset="-122"/>
            </a:endParaRPr>
          </a:p>
          <a:p>
            <a:pPr marL="285750" indent="-285750">
              <a:buClr>
                <a:srgbClr val="000000"/>
              </a:buClr>
              <a:buFont typeface="Wingdings" panose="05000000000000000000" charset="0"/>
              <a:buChar char="l"/>
            </a:pPr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Multiple cases per person(only 1 counted)</a:t>
            </a:r>
            <a:endParaRPr lang="en-US" altLang="zh-CN" sz="1400"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n=38 excluded)</a:t>
            </a:r>
            <a:endParaRPr lang="en-US" altLang="zh-CN" sz="140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46600" y="4399280"/>
            <a:ext cx="4051300" cy="1296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latin typeface="等线" panose="02010600030101010101" charset="-122"/>
                <a:ea typeface="等线" panose="02010600030101010101" charset="-122"/>
              </a:rPr>
              <a:t>Excluded based on case criteria</a:t>
            </a:r>
            <a:endParaRPr lang="en-US" altLang="zh-CN" sz="2000" b="1">
              <a:latin typeface="等线" panose="02010600030101010101" charset="-122"/>
              <a:ea typeface="等线" panose="02010600030101010101" charset="-122"/>
            </a:endParaRPr>
          </a:p>
          <a:p>
            <a:pPr marL="285750" indent="-285750">
              <a:buClr>
                <a:srgbClr val="000000"/>
              </a:buClr>
              <a:buFont typeface="Wingdings" panose="05000000000000000000" charset="0"/>
              <a:buChar char="l"/>
            </a:pPr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Less than 8 physicians completed parallel consultation</a:t>
            </a:r>
            <a:endParaRPr lang="en-US" altLang="zh-CN" sz="1400">
              <a:latin typeface="等线" panose="02010600030101010101" charset="-122"/>
              <a:ea typeface="等线" panose="02010600030101010101" charset="-122"/>
            </a:endParaRPr>
          </a:p>
          <a:p>
            <a:pPr marL="285750" indent="-285750">
              <a:buClr>
                <a:srgbClr val="000000"/>
              </a:buClr>
              <a:buFont typeface="Wingdings" panose="05000000000000000000" charset="0"/>
              <a:buChar char="l"/>
            </a:pPr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Less than 3 physicians completed case review</a:t>
            </a:r>
            <a:endParaRPr lang="en-US" altLang="zh-CN" sz="1400"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US" altLang="zh-CN" sz="1400">
                <a:latin typeface="等线" panose="02010600030101010101" charset="-122"/>
                <a:ea typeface="等线" panose="02010600030101010101" charset="-122"/>
              </a:rPr>
              <a:t>n=22 excluded)</a:t>
            </a:r>
            <a:endParaRPr lang="en-US" altLang="zh-CN" sz="140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/>
        </p:nvSpPr>
        <p:spPr>
          <a:xfrm>
            <a:off x="2946477" y="971011"/>
            <a:ext cx="6300000" cy="2836304"/>
          </a:xfrm>
          <a:prstGeom prst="roundRect">
            <a:avLst>
              <a:gd name="adj" fmla="val 3668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2986352" y="1534744"/>
            <a:ext cx="4007856" cy="2211188"/>
          </a:xfrm>
          <a:prstGeom prst="roundRect">
            <a:avLst>
              <a:gd name="adj" fmla="val 3677"/>
            </a:avLst>
          </a:prstGeom>
          <a:solidFill>
            <a:schemeClr val="bg1"/>
          </a:solidFill>
          <a:ln w="2540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3" name="矩形: 圆角 82"/>
          <p:cNvSpPr/>
          <p:nvPr/>
        </p:nvSpPr>
        <p:spPr>
          <a:xfrm>
            <a:off x="2986352" y="210042"/>
            <a:ext cx="3736270" cy="6831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/>
          <p:cNvSpPr/>
          <p:nvPr/>
        </p:nvSpPr>
        <p:spPr>
          <a:xfrm>
            <a:off x="3203593" y="1037464"/>
            <a:ext cx="957600" cy="4081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Symptoms&amp;</a:t>
            </a:r>
            <a:endParaRPr lang="en-US" altLang="zh-CN" sz="7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Medical History</a:t>
            </a:r>
            <a:endParaRPr lang="zh-CN" altLang="en-US" sz="7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4325425" y="1037464"/>
            <a:ext cx="956197" cy="4081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Interactive Feedback &amp; Data Revision Cycle</a:t>
            </a:r>
            <a:endParaRPr lang="zh-CN" altLang="en-US" sz="7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612515" y="201930"/>
            <a:ext cx="234061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Patient Interaction Layer</a:t>
            </a:r>
            <a:endParaRPr lang="en-US" altLang="zh-CN" sz="1000" b="1" dirty="0">
              <a:solidFill>
                <a:schemeClr val="accent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0" name="文本框 199"/>
          <p:cNvSpPr txBox="1"/>
          <p:nvPr/>
        </p:nvSpPr>
        <p:spPr>
          <a:xfrm rot="16200000">
            <a:off x="2321507" y="2436485"/>
            <a:ext cx="1531439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solidFill>
                  <a:schemeClr val="accent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Multi-Agent Coordination Core</a:t>
            </a:r>
            <a:endParaRPr lang="en-US" altLang="zh-CN" sz="700" b="1" dirty="0">
              <a:solidFill>
                <a:schemeClr val="accent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5440706" y="1042963"/>
            <a:ext cx="1468561" cy="40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Diagnosis &amp; Treatment Recommendations</a:t>
            </a:r>
            <a:endParaRPr lang="zh-CN" altLang="en-US" sz="7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682365" y="452755"/>
            <a:ext cx="2937510" cy="36004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Interaction Module Clinical User Interface</a:t>
            </a:r>
            <a:endParaRPr lang="zh-CN" altLang="en-US" sz="9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203997" y="1613950"/>
            <a:ext cx="957600" cy="720000"/>
            <a:chOff x="126681" y="1686485"/>
            <a:chExt cx="962344" cy="7200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6" name="矩形: 圆角 5"/>
            <p:cNvSpPr/>
            <p:nvPr/>
          </p:nvSpPr>
          <p:spPr>
            <a:xfrm>
              <a:off x="126681" y="1686485"/>
              <a:ext cx="962344" cy="720000"/>
            </a:xfrm>
            <a:prstGeom prst="roundRect">
              <a:avLst>
                <a:gd name="adj" fmla="val 14030"/>
              </a:avLst>
            </a:prstGeom>
            <a:grpFill/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Nexus</a:t>
              </a:r>
              <a:endPara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矩形: 圆角 320"/>
            <p:cNvSpPr/>
            <p:nvPr/>
          </p:nvSpPr>
          <p:spPr>
            <a:xfrm>
              <a:off x="183242" y="1987048"/>
              <a:ext cx="848633" cy="360000"/>
            </a:xfrm>
            <a:prstGeom prst="roundRect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Dialogue Information Capture &amp; Initial Prograssing</a:t>
              </a:r>
              <a:endParaRPr lang="zh-CN" altLang="en-US" sz="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90" name="图形 48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0102" y="1741514"/>
              <a:ext cx="180000" cy="180000"/>
            </a:xfrm>
            <a:prstGeom prst="rect">
              <a:avLst/>
            </a:prstGeom>
          </p:spPr>
        </p:pic>
      </p:grpSp>
      <p:sp>
        <p:nvSpPr>
          <p:cNvPr id="39" name="矩形: 圆角 38"/>
          <p:cNvSpPr/>
          <p:nvPr/>
        </p:nvSpPr>
        <p:spPr>
          <a:xfrm>
            <a:off x="6790042" y="210041"/>
            <a:ext cx="2416560" cy="68314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形 4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7164" y="447316"/>
            <a:ext cx="360000" cy="360000"/>
          </a:xfrm>
          <a:prstGeom prst="rect">
            <a:avLst/>
          </a:prstGeom>
        </p:spPr>
      </p:pic>
      <p:sp>
        <p:nvSpPr>
          <p:cNvPr id="45" name="矩形: 圆角 44"/>
          <p:cNvSpPr/>
          <p:nvPr/>
        </p:nvSpPr>
        <p:spPr>
          <a:xfrm>
            <a:off x="6883083" y="452754"/>
            <a:ext cx="865753" cy="360000"/>
          </a:xfrm>
          <a:prstGeom prst="roundRect">
            <a:avLst/>
          </a:prstGeom>
          <a:solidFill>
            <a:srgbClr val="D3E9F5"/>
          </a:solidFill>
          <a:ln w="12700">
            <a:solidFill>
              <a:srgbClr val="B5D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i="1" dirty="0">
                <a:solidFill>
                  <a:schemeClr val="tx1"/>
                </a:solidFill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Chief Complaint</a:t>
            </a:r>
            <a:endParaRPr lang="zh-CN" altLang="en-US" sz="700" b="1" i="1" dirty="0">
              <a:solidFill>
                <a:schemeClr val="tx1"/>
              </a:solidFill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8131930" y="452754"/>
            <a:ext cx="865753" cy="360000"/>
          </a:xfrm>
          <a:prstGeom prst="roundRect">
            <a:avLst/>
          </a:prstGeom>
          <a:solidFill>
            <a:srgbClr val="D3E9F5"/>
          </a:solidFill>
          <a:ln w="12700">
            <a:solidFill>
              <a:srgbClr val="B5D1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i="1" dirty="0">
                <a:solidFill>
                  <a:schemeClr val="tx1"/>
                </a:solidFill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Electronic Health Record </a:t>
            </a:r>
            <a:endParaRPr lang="zh-CN" altLang="en-US" sz="700" b="1" i="1" dirty="0">
              <a:solidFill>
                <a:schemeClr val="tx1"/>
              </a:solidFill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2" name="图形 6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93085" y="287655"/>
            <a:ext cx="519430" cy="519430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7670204" y="1042962"/>
            <a:ext cx="1536398" cy="2702969"/>
            <a:chOff x="5981700" y="2051909"/>
            <a:chExt cx="1232378" cy="2558236"/>
          </a:xfrm>
        </p:grpSpPr>
        <p:sp>
          <p:nvSpPr>
            <p:cNvPr id="35" name="矩形: 圆角 34"/>
            <p:cNvSpPr/>
            <p:nvPr/>
          </p:nvSpPr>
          <p:spPr>
            <a:xfrm>
              <a:off x="5981700" y="2051909"/>
              <a:ext cx="1232378" cy="2558236"/>
            </a:xfrm>
            <a:prstGeom prst="roundRect">
              <a:avLst>
                <a:gd name="adj" fmla="val 9135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rgbClr val="0070C0"/>
                  </a:solidFill>
                  <a:latin typeface="Arial" panose="020B0604020202020204" pitchFamily="34" charset="0"/>
                  <a:ea typeface="新宋体" panose="02010609030101010101" pitchFamily="49" charset="-122"/>
                  <a:cs typeface="Arial" panose="020B0604020202020204" pitchFamily="34" charset="0"/>
                </a:rPr>
                <a:t>Knowledge Retrieval </a:t>
              </a:r>
              <a:endParaRPr lang="en-US" altLang="zh-CN" sz="700" b="1" dirty="0">
                <a:solidFill>
                  <a:srgbClr val="0070C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endParaRPr>
            </a:p>
            <a:p>
              <a:pPr algn="ctr"/>
              <a:r>
                <a:rPr lang="en-US" altLang="zh-CN" sz="700" b="1" dirty="0">
                  <a:solidFill>
                    <a:srgbClr val="0070C0"/>
                  </a:solidFill>
                  <a:latin typeface="Arial" panose="020B0604020202020204" pitchFamily="34" charset="0"/>
                  <a:ea typeface="新宋体" panose="02010609030101010101" pitchFamily="49" charset="-122"/>
                  <a:cs typeface="Arial" panose="020B0604020202020204" pitchFamily="34" charset="0"/>
                </a:rPr>
                <a:t>&amp; Evidence</a:t>
              </a:r>
              <a:endParaRPr lang="en-US" altLang="zh-CN" sz="700" b="1" dirty="0">
                <a:solidFill>
                  <a:srgbClr val="0070C0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zh-CN" altLang="en-US" sz="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6057302" y="2343632"/>
              <a:ext cx="1081174" cy="1072668"/>
              <a:chOff x="6332968" y="2343632"/>
              <a:chExt cx="1081174" cy="1072668"/>
            </a:xfrm>
          </p:grpSpPr>
          <p:sp>
            <p:nvSpPr>
              <p:cNvPr id="36" name="矩形: 圆角 35"/>
              <p:cNvSpPr/>
              <p:nvPr/>
            </p:nvSpPr>
            <p:spPr>
              <a:xfrm>
                <a:off x="6332968" y="2343632"/>
                <a:ext cx="1081174" cy="1072668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Mixed Search Component</a:t>
                </a:r>
                <a:endParaRPr lang="en-US" altLang="zh-CN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6382293" y="2606595"/>
                <a:ext cx="982524" cy="757827"/>
                <a:chOff x="6390793" y="2732556"/>
                <a:chExt cx="982524" cy="757827"/>
              </a:xfrm>
            </p:grpSpPr>
            <p:sp>
              <p:nvSpPr>
                <p:cNvPr id="216" name="矩形: 圆角 215"/>
                <p:cNvSpPr/>
                <p:nvPr/>
              </p:nvSpPr>
              <p:spPr>
                <a:xfrm>
                  <a:off x="6390793" y="2732556"/>
                  <a:ext cx="982524" cy="757827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7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" name="组合 10"/>
                <p:cNvGrpSpPr/>
                <p:nvPr/>
              </p:nvGrpSpPr>
              <p:grpSpPr>
                <a:xfrm>
                  <a:off x="6429055" y="2777028"/>
                  <a:ext cx="906000" cy="668882"/>
                  <a:chOff x="8247537" y="3152780"/>
                  <a:chExt cx="906000" cy="668882"/>
                </a:xfrm>
              </p:grpSpPr>
              <p:sp>
                <p:nvSpPr>
                  <p:cNvPr id="213" name="矩形: 圆角 212"/>
                  <p:cNvSpPr/>
                  <p:nvPr/>
                </p:nvSpPr>
                <p:spPr>
                  <a:xfrm>
                    <a:off x="8253537" y="3152780"/>
                    <a:ext cx="900000" cy="180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700" b="1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Semantic</a:t>
                    </a:r>
                    <a:endParaRPr lang="en-US" altLang="zh-CN" sz="700" b="1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4" name="矩形: 圆角 213"/>
                  <p:cNvSpPr/>
                  <p:nvPr/>
                </p:nvSpPr>
                <p:spPr>
                  <a:xfrm>
                    <a:off x="8253537" y="3397221"/>
                    <a:ext cx="900000" cy="180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700" b="1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Keyword</a:t>
                    </a:r>
                    <a:endParaRPr lang="en-US" altLang="zh-CN" sz="700" b="1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5" name="矩形: 圆角 214"/>
                  <p:cNvSpPr/>
                  <p:nvPr/>
                </p:nvSpPr>
                <p:spPr>
                  <a:xfrm>
                    <a:off x="8247537" y="3641662"/>
                    <a:ext cx="900000" cy="1800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700" b="1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Vector Search</a:t>
                    </a:r>
                    <a:endParaRPr lang="en-US" altLang="zh-CN" sz="700" b="1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92" name="矩形: 圆角 91"/>
            <p:cNvSpPr/>
            <p:nvPr/>
          </p:nvSpPr>
          <p:spPr>
            <a:xfrm>
              <a:off x="6057303" y="3500933"/>
              <a:ext cx="1081173" cy="192937"/>
            </a:xfrm>
            <a:prstGeom prst="roundRect">
              <a:avLst/>
            </a:prstGeom>
            <a:solidFill>
              <a:srgbClr val="E7F1F0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accent1"/>
                  </a:solidFill>
                  <a:latin typeface="Arial" panose="020B0604020202020204" pitchFamily="34" charset="0"/>
                  <a:ea typeface="新宋体" panose="02010609030101010101" pitchFamily="49" charset="-122"/>
                  <a:cs typeface="Arial" panose="020B0604020202020204" pitchFamily="34" charset="0"/>
                </a:rPr>
                <a:t>Initial Search Results</a:t>
              </a:r>
              <a:endParaRPr lang="en-US" altLang="zh-CN" sz="700" b="1" dirty="0">
                <a:solidFill>
                  <a:schemeClr val="accent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6057302" y="3778502"/>
              <a:ext cx="1081174" cy="797582"/>
              <a:chOff x="6332967" y="4750052"/>
              <a:chExt cx="1081174" cy="797582"/>
            </a:xfrm>
          </p:grpSpPr>
          <p:sp>
            <p:nvSpPr>
              <p:cNvPr id="37" name="矩形: 圆角 36"/>
              <p:cNvSpPr/>
              <p:nvPr/>
            </p:nvSpPr>
            <p:spPr>
              <a:xfrm>
                <a:off x="6332967" y="4750052"/>
                <a:ext cx="1081174" cy="79758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00" b="1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Re-ranking Engine</a:t>
                </a:r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7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6" name="矩形: 圆角 425"/>
              <p:cNvSpPr/>
              <p:nvPr/>
            </p:nvSpPr>
            <p:spPr>
              <a:xfrm>
                <a:off x="6382293" y="4962849"/>
                <a:ext cx="982524" cy="52850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Evidence Refinement-Relevance </a:t>
                </a:r>
                <a:endParaRPr lang="en-US" altLang="zh-CN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zh-CN" sz="7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Scoring &amp; Ranking</a:t>
                </a:r>
                <a:endParaRPr lang="en-US" altLang="zh-CN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515" name="图形 51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9751" y="1279919"/>
            <a:ext cx="447299" cy="252000"/>
          </a:xfrm>
          <a:prstGeom prst="rect">
            <a:avLst/>
          </a:prstGeom>
        </p:spPr>
      </p:pic>
      <p:pic>
        <p:nvPicPr>
          <p:cNvPr id="88" name="图形 8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9751" y="2709886"/>
            <a:ext cx="447299" cy="252000"/>
          </a:xfrm>
          <a:prstGeom prst="rect">
            <a:avLst/>
          </a:prstGeom>
        </p:spPr>
      </p:pic>
      <p:grpSp>
        <p:nvGrpSpPr>
          <p:cNvPr id="48" name="组合 47"/>
          <p:cNvGrpSpPr/>
          <p:nvPr/>
        </p:nvGrpSpPr>
        <p:grpSpPr>
          <a:xfrm>
            <a:off x="3203593" y="2953579"/>
            <a:ext cx="956197" cy="720000"/>
            <a:chOff x="126681" y="3099331"/>
            <a:chExt cx="956197" cy="7200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99" name="矩形: 圆角 98"/>
            <p:cNvSpPr/>
            <p:nvPr/>
          </p:nvSpPr>
          <p:spPr>
            <a:xfrm>
              <a:off x="126681" y="3099331"/>
              <a:ext cx="956197" cy="720000"/>
            </a:xfrm>
            <a:prstGeom prst="roundRect">
              <a:avLst>
                <a:gd name="adj" fmla="val 14030"/>
              </a:avLst>
            </a:prstGeom>
            <a:grpFill/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Cortex</a:t>
              </a:r>
              <a:endPara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: 圆角 99"/>
            <p:cNvSpPr/>
            <p:nvPr/>
          </p:nvSpPr>
          <p:spPr>
            <a:xfrm>
              <a:off x="177800" y="3399894"/>
              <a:ext cx="854075" cy="360000"/>
            </a:xfrm>
            <a:prstGeom prst="roundRect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Authoring Agent-Information Structuring</a:t>
              </a:r>
              <a:endParaRPr lang="zh-CN" altLang="en-US" sz="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1" name="图形 100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0102" y="3154360"/>
              <a:ext cx="180000" cy="180000"/>
            </a:xfrm>
            <a:prstGeom prst="rect">
              <a:avLst/>
            </a:prstGeom>
          </p:spPr>
        </p:pic>
      </p:grpSp>
      <p:grpSp>
        <p:nvGrpSpPr>
          <p:cNvPr id="41" name="组合 40"/>
          <p:cNvGrpSpPr/>
          <p:nvPr/>
        </p:nvGrpSpPr>
        <p:grpSpPr>
          <a:xfrm>
            <a:off x="5130678" y="2953579"/>
            <a:ext cx="956197" cy="720000"/>
            <a:chOff x="132828" y="4026314"/>
            <a:chExt cx="956197" cy="7200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02" name="矩形: 圆角 101"/>
            <p:cNvSpPr/>
            <p:nvPr/>
          </p:nvSpPr>
          <p:spPr>
            <a:xfrm>
              <a:off x="132828" y="4026314"/>
              <a:ext cx="956197" cy="720000"/>
            </a:xfrm>
            <a:prstGeom prst="roundRect">
              <a:avLst>
                <a:gd name="adj" fmla="val 14030"/>
              </a:avLst>
            </a:prstGeom>
            <a:grpFill/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Sentinel</a:t>
              </a:r>
              <a:endPara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: 圆角 102"/>
            <p:cNvSpPr/>
            <p:nvPr/>
          </p:nvSpPr>
          <p:spPr>
            <a:xfrm>
              <a:off x="189389" y="4326877"/>
              <a:ext cx="842486" cy="360000"/>
            </a:xfrm>
            <a:prstGeom prst="roundRect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Integrity Review Agent-Quality Assurance</a:t>
              </a:r>
              <a:endParaRPr lang="zh-CN" altLang="en-US" sz="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4" name="图形 10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06249" y="4081343"/>
              <a:ext cx="180000" cy="180000"/>
            </a:xfrm>
            <a:prstGeom prst="rect">
              <a:avLst/>
            </a:prstGeom>
          </p:spPr>
        </p:pic>
      </p:grpSp>
      <p:grpSp>
        <p:nvGrpSpPr>
          <p:cNvPr id="42" name="组合 41"/>
          <p:cNvGrpSpPr/>
          <p:nvPr/>
        </p:nvGrpSpPr>
        <p:grpSpPr>
          <a:xfrm>
            <a:off x="5953070" y="1613947"/>
            <a:ext cx="956197" cy="720000"/>
            <a:chOff x="129231" y="4988354"/>
            <a:chExt cx="956197" cy="7200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05" name="矩形: 圆角 104"/>
            <p:cNvSpPr/>
            <p:nvPr/>
          </p:nvSpPr>
          <p:spPr>
            <a:xfrm>
              <a:off x="129231" y="4988354"/>
              <a:ext cx="956197" cy="720000"/>
            </a:xfrm>
            <a:prstGeom prst="roundRect">
              <a:avLst>
                <a:gd name="adj" fmla="val 14030"/>
              </a:avLst>
            </a:prstGeom>
            <a:grpFill/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Oracle</a:t>
              </a:r>
              <a:endPara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: 圆角 105"/>
            <p:cNvSpPr/>
            <p:nvPr/>
          </p:nvSpPr>
          <p:spPr>
            <a:xfrm>
              <a:off x="200102" y="5292050"/>
              <a:ext cx="831773" cy="360000"/>
            </a:xfrm>
            <a:prstGeom prst="roundRect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Diagnosis Agent-Clinical Decision Making</a:t>
              </a:r>
              <a:endParaRPr lang="zh-CN" altLang="en-US" sz="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7" name="图形 106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06249" y="5046516"/>
              <a:ext cx="180000" cy="180000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/>
        </p:nvGrpSpPr>
        <p:grpSpPr>
          <a:xfrm>
            <a:off x="4325425" y="1615164"/>
            <a:ext cx="956197" cy="720000"/>
            <a:chOff x="126681" y="2571731"/>
            <a:chExt cx="956197" cy="72000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08" name="矩形: 圆角 107"/>
            <p:cNvSpPr/>
            <p:nvPr/>
          </p:nvSpPr>
          <p:spPr>
            <a:xfrm>
              <a:off x="126681" y="2571731"/>
              <a:ext cx="956197" cy="720000"/>
            </a:xfrm>
            <a:prstGeom prst="roundRect">
              <a:avLst>
                <a:gd name="adj" fmla="val 14030"/>
              </a:avLst>
            </a:prstGeom>
            <a:grpFill/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Arbiter</a:t>
              </a:r>
              <a:endPara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: 圆角 108"/>
            <p:cNvSpPr/>
            <p:nvPr/>
          </p:nvSpPr>
          <p:spPr>
            <a:xfrm>
              <a:off x="183241" y="2872293"/>
              <a:ext cx="848634" cy="360000"/>
            </a:xfrm>
            <a:prstGeom prst="roundRect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Patient Confirmation &amp; Arbitration-Feedback Management</a:t>
              </a:r>
              <a:endParaRPr lang="zh-CN" altLang="en-US" sz="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0" name="图形 10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00102" y="2626760"/>
              <a:ext cx="180000" cy="180000"/>
            </a:xfrm>
            <a:prstGeom prst="rect">
              <a:avLst/>
            </a:prstGeom>
          </p:spPr>
        </p:pic>
      </p:grpSp>
      <p:sp>
        <p:nvSpPr>
          <p:cNvPr id="123" name="矩形: 圆角 122"/>
          <p:cNvSpPr/>
          <p:nvPr/>
        </p:nvSpPr>
        <p:spPr>
          <a:xfrm>
            <a:off x="4276740" y="2953579"/>
            <a:ext cx="720000" cy="319236"/>
          </a:xfrm>
          <a:prstGeom prst="roundRect">
            <a:avLst/>
          </a:prstGeom>
          <a:solidFill>
            <a:srgbClr val="E7F1F0"/>
          </a:solidFill>
          <a:ln w="12700">
            <a:solidFill>
              <a:srgbClr val="CFE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Annotated information</a:t>
            </a:r>
            <a:endParaRPr lang="zh-CN" altLang="en-US" sz="5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4" name="矩形: 圆角 123"/>
          <p:cNvSpPr/>
          <p:nvPr/>
        </p:nvSpPr>
        <p:spPr>
          <a:xfrm>
            <a:off x="4276740" y="3354343"/>
            <a:ext cx="720000" cy="319236"/>
          </a:xfrm>
          <a:prstGeom prst="roundRect">
            <a:avLst/>
          </a:prstGeom>
          <a:solidFill>
            <a:srgbClr val="E7F1F0"/>
          </a:solidFill>
          <a:ln w="12700">
            <a:solidFill>
              <a:srgbClr val="CFE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Quality Control Validation Loop</a:t>
            </a:r>
            <a:endParaRPr lang="zh-CN" altLang="en-US" sz="5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56" name="直接箭头连接符 55"/>
          <p:cNvCxnSpPr>
            <a:stCxn id="6" idx="2"/>
            <a:endCxn id="99" idx="0"/>
          </p:cNvCxnSpPr>
          <p:nvPr/>
        </p:nvCxnSpPr>
        <p:spPr>
          <a:xfrm flipH="1">
            <a:off x="3681692" y="2333950"/>
            <a:ext cx="1105" cy="61962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连接符: 肘形 450"/>
          <p:cNvCxnSpPr>
            <a:stCxn id="102" idx="0"/>
            <a:endCxn id="108" idx="2"/>
          </p:cNvCxnSpPr>
          <p:nvPr/>
        </p:nvCxnSpPr>
        <p:spPr>
          <a:xfrm rot="16200000" flipV="1">
            <a:off x="4896944" y="2241745"/>
            <a:ext cx="618415" cy="805253"/>
          </a:xfrm>
          <a:prstGeom prst="bentConnector3">
            <a:avLst>
              <a:gd name="adj1" fmla="val 12521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直接箭头连接符 452"/>
          <p:cNvCxnSpPr>
            <a:stCxn id="99" idx="3"/>
            <a:endCxn id="102" idx="1"/>
          </p:cNvCxnSpPr>
          <p:nvPr/>
        </p:nvCxnSpPr>
        <p:spPr>
          <a:xfrm>
            <a:off x="4159790" y="3313579"/>
            <a:ext cx="970888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/>
          <p:cNvSpPr/>
          <p:nvPr/>
        </p:nvSpPr>
        <p:spPr>
          <a:xfrm>
            <a:off x="3203593" y="2484146"/>
            <a:ext cx="956197" cy="319236"/>
          </a:xfrm>
          <a:prstGeom prst="roundRect">
            <a:avLst/>
          </a:prstGeom>
          <a:solidFill>
            <a:srgbClr val="E7F1F0"/>
          </a:solidFill>
          <a:ln w="12700">
            <a:solidFill>
              <a:srgbClr val="CFE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Structured Dialogue</a:t>
            </a:r>
            <a:endParaRPr lang="zh-CN" altLang="en-US" sz="5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57" name="连接符: 肘形 456"/>
          <p:cNvCxnSpPr>
            <a:stCxn id="102" idx="3"/>
          </p:cNvCxnSpPr>
          <p:nvPr/>
        </p:nvCxnSpPr>
        <p:spPr>
          <a:xfrm flipV="1">
            <a:off x="6086875" y="2333947"/>
            <a:ext cx="123213" cy="979632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: 圆角 120"/>
          <p:cNvSpPr/>
          <p:nvPr/>
        </p:nvSpPr>
        <p:spPr>
          <a:xfrm>
            <a:off x="4325424" y="2484146"/>
            <a:ext cx="956197" cy="319236"/>
          </a:xfrm>
          <a:prstGeom prst="roundRect">
            <a:avLst/>
          </a:prstGeom>
          <a:solidFill>
            <a:srgbClr val="E7F1F0"/>
          </a:solidFill>
          <a:ln w="12700">
            <a:solidFill>
              <a:srgbClr val="CFE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Validated Data Package</a:t>
            </a:r>
            <a:endParaRPr lang="zh-CN" altLang="en-US" sz="5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2" name="矩形: 圆角 121"/>
          <p:cNvSpPr/>
          <p:nvPr/>
        </p:nvSpPr>
        <p:spPr>
          <a:xfrm>
            <a:off x="5850088" y="2484146"/>
            <a:ext cx="720000" cy="319236"/>
          </a:xfrm>
          <a:prstGeom prst="roundRect">
            <a:avLst/>
          </a:prstGeom>
          <a:solidFill>
            <a:srgbClr val="E7F1F0"/>
          </a:solidFill>
          <a:ln w="12700">
            <a:solidFill>
              <a:srgbClr val="CFE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Decision Support Refinement</a:t>
            </a:r>
            <a:endParaRPr lang="zh-CN" altLang="en-US" sz="5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39" name="直接箭头连接符 138"/>
          <p:cNvCxnSpPr>
            <a:stCxn id="105" idx="3"/>
          </p:cNvCxnSpPr>
          <p:nvPr/>
        </p:nvCxnSpPr>
        <p:spPr>
          <a:xfrm>
            <a:off x="6909267" y="1973947"/>
            <a:ext cx="8478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: 圆角 92"/>
          <p:cNvSpPr/>
          <p:nvPr/>
        </p:nvSpPr>
        <p:spPr>
          <a:xfrm rot="16200000">
            <a:off x="6889073" y="1801303"/>
            <a:ext cx="842400" cy="330145"/>
          </a:xfrm>
          <a:prstGeom prst="roundRect">
            <a:avLst/>
          </a:prstGeom>
          <a:solidFill>
            <a:srgbClr val="EFF0FB"/>
          </a:solidFill>
          <a:ln w="12700">
            <a:solidFill>
              <a:srgbClr val="D9D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Clinical </a:t>
            </a:r>
            <a:endParaRPr lang="en-US" altLang="zh-CN" sz="5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5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Knowledge Queries</a:t>
            </a:r>
            <a:endParaRPr lang="zh-CN" altLang="en-US" sz="5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43" name="连接符: 肘形 142"/>
          <p:cNvCxnSpPr>
            <a:stCxn id="37" idx="1"/>
          </p:cNvCxnSpPr>
          <p:nvPr/>
        </p:nvCxnSpPr>
        <p:spPr>
          <a:xfrm rot="10800000">
            <a:off x="6726285" y="2343053"/>
            <a:ext cx="1038172" cy="945539"/>
          </a:xfrm>
          <a:prstGeom prst="bentConnector3">
            <a:avLst>
              <a:gd name="adj1" fmla="val 99952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/>
          <p:cNvSpPr txBox="1"/>
          <p:nvPr/>
        </p:nvSpPr>
        <p:spPr>
          <a:xfrm>
            <a:off x="2939796" y="715"/>
            <a:ext cx="220163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a)</a:t>
            </a:r>
            <a:r>
              <a:rPr lang="zh-CN" altLang="en-US" sz="800" b="1" dirty="0"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 </a:t>
            </a:r>
            <a:endParaRPr lang="zh-CN" altLang="en-US" sz="800" b="1" dirty="0"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sp>
        <p:nvSpPr>
          <p:cNvPr id="94" name="矩形: 圆角 93"/>
          <p:cNvSpPr/>
          <p:nvPr/>
        </p:nvSpPr>
        <p:spPr>
          <a:xfrm rot="16200000">
            <a:off x="6887159" y="3123517"/>
            <a:ext cx="842705" cy="330145"/>
          </a:xfrm>
          <a:prstGeom prst="roundRect">
            <a:avLst/>
          </a:prstGeom>
          <a:solidFill>
            <a:srgbClr val="EFF0FB"/>
          </a:solidFill>
          <a:ln w="12700">
            <a:solidFill>
              <a:srgbClr val="D9D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Prioritized </a:t>
            </a:r>
            <a:endParaRPr lang="en-US" altLang="zh-CN" sz="5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5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Medical Evidence</a:t>
            </a:r>
            <a:endParaRPr lang="zh-CN" altLang="en-US" sz="5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74" name="直接箭头连接符 173"/>
          <p:cNvCxnSpPr>
            <a:stCxn id="108" idx="3"/>
            <a:endCxn id="105" idx="1"/>
          </p:cNvCxnSpPr>
          <p:nvPr/>
        </p:nvCxnSpPr>
        <p:spPr>
          <a:xfrm flipV="1">
            <a:off x="5281622" y="1973947"/>
            <a:ext cx="671448" cy="121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/>
          <p:cNvSpPr/>
          <p:nvPr/>
        </p:nvSpPr>
        <p:spPr>
          <a:xfrm rot="16200000">
            <a:off x="5257346" y="1797308"/>
            <a:ext cx="719999" cy="353279"/>
          </a:xfrm>
          <a:prstGeom prst="roundRect">
            <a:avLst/>
          </a:prstGeom>
          <a:solidFill>
            <a:srgbClr val="E7F1F0"/>
          </a:solidFill>
          <a:ln w="12700">
            <a:solidFill>
              <a:srgbClr val="CFE3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" b="1" dirty="0">
                <a:solidFill>
                  <a:schemeClr val="tx1"/>
                </a:solidFill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Confirmed Patient Profile &amp; Requirements</a:t>
            </a:r>
            <a:endParaRPr lang="zh-CN" altLang="en-US" sz="500" b="1" dirty="0">
              <a:solidFill>
                <a:schemeClr val="tx1"/>
              </a:solidFill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46083" y="3812312"/>
            <a:ext cx="255892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Arial" panose="020B0604020202020204" pitchFamily="34" charset="0"/>
                <a:ea typeface="新宋体" panose="02010609030101010101" pitchFamily="49" charset="-122"/>
                <a:cs typeface="Arial" panose="020B0604020202020204" pitchFamily="34" charset="0"/>
              </a:rPr>
              <a:t>b)</a:t>
            </a:r>
            <a:endParaRPr lang="zh-CN" altLang="en-US" sz="800" b="1" dirty="0">
              <a:latin typeface="Arial" panose="020B0604020202020204" pitchFamily="34" charset="0"/>
              <a:ea typeface="新宋体" panose="0201060903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995930" y="4623435"/>
            <a:ext cx="3703955" cy="6381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 cmpd="sng">
            <a:solidFill>
              <a:srgbClr val="FFD9B3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/>
          </a:p>
        </p:txBody>
      </p:sp>
      <p:sp>
        <p:nvSpPr>
          <p:cNvPr id="10" name="圆角矩形 9"/>
          <p:cNvSpPr/>
          <p:nvPr/>
        </p:nvSpPr>
        <p:spPr>
          <a:xfrm>
            <a:off x="3070860" y="4128135"/>
            <a:ext cx="1822450" cy="406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Standardized Patient Agent</a:t>
            </a:r>
            <a:endParaRPr lang="en-US" altLang="zh-CN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6" descr="医疗患者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98897" y="4137994"/>
            <a:ext cx="355487" cy="35991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683000" y="4623435"/>
            <a:ext cx="3150235" cy="57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Diverse Clinical Manifestations: Flank pain,  Hematuria, Pyuria</a:t>
            </a:r>
            <a:endParaRPr lang="en-US" altLang="zh-CN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Comorbidities:  Urosepsis, Anticoagulation, Congenital Anomalies</a:t>
            </a:r>
            <a:endParaRPr lang="en-US" altLang="zh-CN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700" b="1" dirty="0">
                <a:latin typeface="Arial" panose="020B0604020202020204" pitchFamily="34" charset="0"/>
                <a:cs typeface="Arial" panose="020B0604020202020204" pitchFamily="34" charset="0"/>
              </a:rPr>
              <a:t>Real-world clinical cases with de-identified personal data</a:t>
            </a:r>
            <a:endParaRPr lang="en-US" altLang="zh-CN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995745" y="5727412"/>
            <a:ext cx="3703897" cy="12143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 cmpd="sng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/>
          </a:p>
        </p:txBody>
      </p:sp>
      <p:sp>
        <p:nvSpPr>
          <p:cNvPr id="16" name="圆角矩形 15"/>
          <p:cNvSpPr/>
          <p:nvPr/>
        </p:nvSpPr>
        <p:spPr>
          <a:xfrm>
            <a:off x="3137041" y="5803979"/>
            <a:ext cx="1613635" cy="4066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UroMAS</a:t>
            </a:r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V.S.</a:t>
            </a:r>
            <a:endParaRPr lang="zh-CN" altLang="en-US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Large Models</a:t>
            </a:r>
            <a:endParaRPr lang="en-US" altLang="zh-CN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943715" y="5803979"/>
            <a:ext cx="1613635" cy="4066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Junior</a:t>
            </a:r>
            <a:r>
              <a:rPr lang="zh-CN" alt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Doctors</a:t>
            </a:r>
            <a:r>
              <a:rPr lang="zh-CN" alt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Examination Cohort</a:t>
            </a:r>
            <a:r>
              <a:rPr lang="zh-CN" alt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82477" y="6187481"/>
            <a:ext cx="453078" cy="4587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28090" y="6155243"/>
            <a:ext cx="918097" cy="523202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71226" y="6211660"/>
            <a:ext cx="722072" cy="410367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394637" y="6323150"/>
            <a:ext cx="1286896" cy="198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Total Participants: 94</a:t>
            </a:r>
            <a:endParaRPr lang="en-US" altLang="zh-CN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6" name="图片 27" descr="学生教师人员团队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060036" y="6252569"/>
            <a:ext cx="284390" cy="287934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5394637" y="6646205"/>
            <a:ext cx="1286896" cy="198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Total Examinations: 228</a:t>
            </a:r>
            <a:endParaRPr lang="en-US" altLang="zh-CN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3926113" y="5322587"/>
            <a:ext cx="1833872" cy="319697"/>
          </a:xfrm>
          <a:prstGeom prst="roundRect">
            <a:avLst/>
          </a:prstGeom>
          <a:solidFill>
            <a:srgbClr val="E7F1F0"/>
          </a:solidFill>
          <a:ln>
            <a:solidFill>
              <a:srgbClr val="D0E4E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history collection via natural language dialogue</a:t>
            </a:r>
            <a:endParaRPr lang="en-US" altLang="zh-CN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7165987" y="4047324"/>
            <a:ext cx="1932050" cy="48693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Written initial progress notes</a:t>
            </a:r>
            <a:endParaRPr lang="en-US" altLang="zh-CN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肘形连接符 29"/>
          <p:cNvCxnSpPr>
            <a:stCxn id="15" idx="3"/>
            <a:endCxn id="29" idx="1"/>
          </p:cNvCxnSpPr>
          <p:nvPr/>
        </p:nvCxnSpPr>
        <p:spPr>
          <a:xfrm flipV="1">
            <a:off x="6699641" y="4290790"/>
            <a:ext cx="466346" cy="2043777"/>
          </a:xfrm>
          <a:prstGeom prst="bentConnector3">
            <a:avLst>
              <a:gd name="adj1" fmla="val 38904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环形箭头 30"/>
          <p:cNvSpPr/>
          <p:nvPr/>
        </p:nvSpPr>
        <p:spPr>
          <a:xfrm rot="16200000">
            <a:off x="3639885" y="5299512"/>
            <a:ext cx="375106" cy="365846"/>
          </a:xfrm>
          <a:prstGeom prst="circular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>
              <a:solidFill>
                <a:schemeClr val="tx1"/>
              </a:solidFill>
            </a:endParaRPr>
          </a:p>
        </p:txBody>
      </p:sp>
      <p:sp>
        <p:nvSpPr>
          <p:cNvPr id="32" name="环形箭头 31"/>
          <p:cNvSpPr/>
          <p:nvPr/>
        </p:nvSpPr>
        <p:spPr>
          <a:xfrm rot="16200000" flipH="1" flipV="1">
            <a:off x="5671107" y="5299512"/>
            <a:ext cx="375106" cy="365846"/>
          </a:xfrm>
          <a:prstGeom prst="circular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>
              <a:solidFill>
                <a:schemeClr val="tx1"/>
              </a:solidFill>
            </a:endParaRPr>
          </a:p>
        </p:txBody>
      </p:sp>
      <p:pic>
        <p:nvPicPr>
          <p:cNvPr id="33" name="图片 39" descr="病历本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165323" y="4091316"/>
            <a:ext cx="355487" cy="359918"/>
          </a:xfrm>
          <a:prstGeom prst="rect">
            <a:avLst/>
          </a:prstGeom>
        </p:spPr>
      </p:pic>
      <p:cxnSp>
        <p:nvCxnSpPr>
          <p:cNvPr id="38" name="直接箭头连接符 42"/>
          <p:cNvCxnSpPr/>
          <p:nvPr/>
        </p:nvCxnSpPr>
        <p:spPr>
          <a:xfrm>
            <a:off x="8132178" y="4537616"/>
            <a:ext cx="0" cy="190384"/>
          </a:xfrm>
          <a:prstGeom prst="straightConnector1">
            <a:avLst/>
          </a:prstGeom>
          <a:ln w="53975" cmpd="sng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7165987" y="4738098"/>
            <a:ext cx="1935035" cy="9271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Rubrics based Grading Agents</a:t>
            </a:r>
            <a:endParaRPr lang="en-US" altLang="zh-CN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7194550" y="5322570"/>
            <a:ext cx="1861185" cy="23622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3">
                <a:lumMod val="20000"/>
                <a:lumOff val="80000"/>
                <a:alpha val="49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altLang="zh-CN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Scores based on Rubrics</a:t>
            </a:r>
            <a:endParaRPr lang="en-US" altLang="zh-CN" sz="7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7189536" y="5018168"/>
            <a:ext cx="624558" cy="300891"/>
          </a:xfrm>
          <a:prstGeom prst="roundRect">
            <a:avLst>
              <a:gd name="adj" fmla="val 50000"/>
            </a:avLst>
          </a:prstGeom>
          <a:solidFill>
            <a:schemeClr val="bg1">
              <a:alpha val="36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Grading Agent 1</a:t>
            </a:r>
            <a:endParaRPr lang="en-US" altLang="zh-CN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7814094" y="5018168"/>
            <a:ext cx="624558" cy="300891"/>
          </a:xfrm>
          <a:prstGeom prst="roundRect">
            <a:avLst>
              <a:gd name="adj" fmla="val 50000"/>
            </a:avLst>
          </a:prstGeom>
          <a:solidFill>
            <a:schemeClr val="bg1">
              <a:alpha val="36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Grading Agent 2</a:t>
            </a:r>
            <a:endParaRPr lang="en-US" altLang="zh-CN" sz="7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8438652" y="5018168"/>
            <a:ext cx="624558" cy="300891"/>
          </a:xfrm>
          <a:prstGeom prst="roundRect">
            <a:avLst>
              <a:gd name="adj" fmla="val 50000"/>
            </a:avLst>
          </a:prstGeom>
          <a:solidFill>
            <a:schemeClr val="bg1">
              <a:alpha val="36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Grading Agent 3</a:t>
            </a:r>
            <a:endParaRPr lang="en-US" altLang="zh-CN" sz="7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7163333" y="5917485"/>
            <a:ext cx="1935035" cy="9271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Rubrics based Grading Experts</a:t>
            </a:r>
            <a:endParaRPr lang="en-US" altLang="zh-CN" sz="7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191858" y="6358411"/>
            <a:ext cx="1861070" cy="379808"/>
          </a:xfrm>
          <a:prstGeom prst="roundRect">
            <a:avLst/>
          </a:prstGeom>
          <a:solidFill>
            <a:schemeClr val="accent2">
              <a:lumMod val="40000"/>
              <a:lumOff val="60000"/>
              <a:alpha val="59000"/>
            </a:schemeClr>
          </a:solidFill>
          <a:ln w="12700" cmpd="sng">
            <a:solidFill>
              <a:schemeClr val="accent3">
                <a:lumMod val="20000"/>
                <a:lumOff val="80000"/>
                <a:alpha val="49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altLang="zh-CN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Scores based on Rubrics</a:t>
            </a:r>
            <a:endParaRPr lang="en-US" altLang="zh-CN" sz="7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7186883" y="6197555"/>
            <a:ext cx="624558" cy="300891"/>
          </a:xfrm>
          <a:prstGeom prst="roundRect">
            <a:avLst>
              <a:gd name="adj" fmla="val 50000"/>
            </a:avLst>
          </a:prstGeom>
          <a:solidFill>
            <a:schemeClr val="bg1">
              <a:alpha val="36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Grading Expert 1</a:t>
            </a:r>
            <a:endParaRPr lang="en-US" altLang="zh-CN" sz="7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7811441" y="6197555"/>
            <a:ext cx="624558" cy="300891"/>
          </a:xfrm>
          <a:prstGeom prst="roundRect">
            <a:avLst>
              <a:gd name="adj" fmla="val 50000"/>
            </a:avLst>
          </a:prstGeom>
          <a:solidFill>
            <a:schemeClr val="bg1">
              <a:alpha val="36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Grading Expert 2</a:t>
            </a:r>
            <a:endParaRPr lang="en-US" altLang="zh-CN" sz="7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8435999" y="6197555"/>
            <a:ext cx="624558" cy="300891"/>
          </a:xfrm>
          <a:prstGeom prst="roundRect">
            <a:avLst>
              <a:gd name="adj" fmla="val 50000"/>
            </a:avLst>
          </a:prstGeom>
          <a:solidFill>
            <a:schemeClr val="bg1">
              <a:alpha val="36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Grading Expert 3</a:t>
            </a:r>
            <a:endParaRPr lang="en-US" altLang="zh-CN" sz="7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" name="圆角矩形 447"/>
          <p:cNvSpPr/>
          <p:nvPr/>
        </p:nvSpPr>
        <p:spPr>
          <a:xfrm>
            <a:off x="7052551" y="4622913"/>
            <a:ext cx="2157926" cy="2289595"/>
          </a:xfrm>
          <a:prstGeom prst="roundRect">
            <a:avLst>
              <a:gd name="adj" fmla="val 7669"/>
            </a:avLst>
          </a:prstGeom>
          <a:noFill/>
          <a:ln w="25400" cmpd="sng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/>
          </a:p>
        </p:txBody>
      </p:sp>
      <p:cxnSp>
        <p:nvCxnSpPr>
          <p:cNvPr id="449" name="直接连接符 66"/>
          <p:cNvCxnSpPr>
            <a:stCxn id="448" idx="1"/>
          </p:cNvCxnSpPr>
          <p:nvPr/>
        </p:nvCxnSpPr>
        <p:spPr>
          <a:xfrm>
            <a:off x="7052551" y="5767710"/>
            <a:ext cx="2143663" cy="0"/>
          </a:xfrm>
          <a:prstGeom prst="line">
            <a:avLst/>
          </a:prstGeom>
          <a:ln w="25400" cmpd="sng">
            <a:solidFill>
              <a:schemeClr val="accent1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0" name="图片 449"/>
          <p:cNvPicPr>
            <a:picLocks noChangeAspect="1"/>
          </p:cNvPicPr>
          <p:nvPr/>
        </p:nvPicPr>
        <p:blipFill>
          <a:blip r:embed="rId23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37554" y="6648892"/>
            <a:ext cx="460375" cy="290817"/>
          </a:xfrm>
          <a:prstGeom prst="rect">
            <a:avLst/>
          </a:prstGeom>
        </p:spPr>
      </p:pic>
      <p:sp>
        <p:nvSpPr>
          <p:cNvPr id="452" name="文本框 451"/>
          <p:cNvSpPr txBox="1"/>
          <p:nvPr/>
        </p:nvSpPr>
        <p:spPr>
          <a:xfrm>
            <a:off x="4220316" y="6678444"/>
            <a:ext cx="1094220" cy="1682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5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Doubao</a:t>
            </a:r>
            <a:r>
              <a:rPr lang="en-US" altLang="zh-CN" sz="5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-Seed</a:t>
            </a:r>
            <a:endParaRPr lang="en-US" altLang="zh-CN" sz="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83910" y="3207385"/>
            <a:ext cx="424180" cy="443230"/>
          </a:xfrm>
          <a:prstGeom prst="rect">
            <a:avLst/>
          </a:prstGeom>
        </p:spPr>
      </p:pic>
      <p:grpSp>
        <p:nvGrpSpPr>
          <p:cNvPr id="65" name="组合 64"/>
          <p:cNvGrpSpPr/>
          <p:nvPr/>
        </p:nvGrpSpPr>
        <p:grpSpPr>
          <a:xfrm>
            <a:off x="4915535" y="4130675"/>
            <a:ext cx="1784350" cy="407035"/>
            <a:chOff x="15025" y="6516"/>
            <a:chExt cx="2810" cy="641"/>
          </a:xfrm>
        </p:grpSpPr>
        <p:sp>
          <p:nvSpPr>
            <p:cNvPr id="7" name="圆角矩形 6"/>
            <p:cNvSpPr/>
            <p:nvPr/>
          </p:nvSpPr>
          <p:spPr>
            <a:xfrm>
              <a:off x="15025" y="6517"/>
              <a:ext cx="2810" cy="64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 Complex Urolithiasis Cases </a:t>
              </a:r>
              <a:endParaRPr lang="en-US" altLang="zh-CN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4" name="图片 63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5025" y="6516"/>
              <a:ext cx="575" cy="567"/>
            </a:xfrm>
            <a:prstGeom prst="rect">
              <a:avLst/>
            </a:prstGeom>
          </p:spPr>
        </p:pic>
      </p:grpSp>
      <p:pic>
        <p:nvPicPr>
          <p:cNvPr id="67" name="图片 6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55620" y="4617085"/>
            <a:ext cx="557530" cy="660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50062474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3153</Words>
  <Application>WPS 演示</Application>
  <PresentationFormat>宽屏</PresentationFormat>
  <Paragraphs>269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等线</vt:lpstr>
      <vt:lpstr>Wingdings</vt:lpstr>
      <vt:lpstr>Calibri</vt:lpstr>
      <vt:lpstr>微软雅黑</vt:lpstr>
      <vt:lpstr>Arial Unicode MS</vt:lpstr>
      <vt:lpstr>新宋体</vt:lpstr>
      <vt:lpstr>等线 Light</vt:lpstr>
      <vt:lpstr>Calibri Light</vt:lpstr>
      <vt:lpstr>Times New Roman</vt:lpstr>
      <vt:lpstr>WPS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yalong chen</dc:creator>
  <cp:lastModifiedBy>陈亚龙</cp:lastModifiedBy>
  <cp:revision>50</cp:revision>
  <dcterms:created xsi:type="dcterms:W3CDTF">2023-08-09T12:44:00Z</dcterms:created>
  <dcterms:modified xsi:type="dcterms:W3CDTF">2026-04-24T15:11:15Z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AA08B7C680284142B698735E9D812D63_12</vt:lpwstr>
  </property>
</Properties>
</file>